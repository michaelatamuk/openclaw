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288" r:id="rId14"/>
    <p:sldId id="28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6"/>
  </p:normalViewPr>
  <p:slideViewPr>
    <p:cSldViewPr snapToGrid="0" snapToObjects="1">
      <p:cViewPr varScale="1">
        <p:scale>
          <a:sx n="93" d="100"/>
          <a:sy n="93" d="100"/>
        </p:scale>
        <p:origin x="71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7D5AC-C11A-46B6-95A4-97E77EEABFAC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6EC94-EE01-417A-BB42-EF86A43FE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94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6EC94-EE01-417A-BB42-EF86A43FE4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3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DD6F4"/>
                </a:solidFill>
                <a:latin typeface="Calibri"/>
              </a:rPr>
              <a:t>Research Topics: OpenClaw as a Study Subject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89B4FA"/>
                </a:solidFill>
                <a:latin typeface="Calibri"/>
              </a:rPr>
              <a:t>Suggested research directions derived from actual implementation patterns in OpenClaw.
Each topic is grounded in specific code.
Suitable candidates for arXiv (cs.AI, cs.SE, cs.NI, cs.CR).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AC2DE"/>
                </a:solidFill>
                <a:latin typeface="Calibri"/>
              </a:rPr>
              <a:t>OpenClaw v2026.4.20  ·  Document prepared 2026-04-21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DD6F4"/>
                </a:solidFill>
                <a:latin typeface="Calibri"/>
              </a:rPr>
              <a:t>Why OpenClaw is Interesting for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sz="1500" b="0" dirty="0">
                <a:solidFill>
                  <a:srgbClr val="BAC2DE"/>
                </a:solidFill>
                <a:latin typeface="Calibri"/>
              </a:rPr>
              <a:t> is a production open-source personal AI assistant gateway that:
  • Routes messages across 25+ heterogeneous messaging platforms to a unified AI agent
  • Manages long-running conversation sessions with context window limits
  • Handles multi-provider AI failover with sub-second reliability
  • Enforces strict plugin isolation in a TypeScript </a:t>
            </a:r>
            <a:r>
              <a:rPr sz="1500" b="0" dirty="0" err="1">
                <a:solidFill>
                  <a:srgbClr val="BAC2DE"/>
                </a:solidFill>
                <a:latin typeface="Calibri"/>
              </a:rPr>
              <a:t>monorepo</a:t>
            </a:r>
            <a:r>
              <a:rPr sz="1500" b="0" dirty="0">
                <a:solidFill>
                  <a:srgbClr val="BAC2DE"/>
                </a:solidFill>
                <a:latin typeface="Calibri"/>
              </a:rPr>
              <a:t> with 100+ plugins
  • Supports hierarchical sub-agent spawning with registry-backed lifecycle
Unlike research prototypes, it has to work in real deployments under real constraints:
  • Character limits on WhatsApp
  • Rate limits from Anthropic
  • Memory bounds on Raspberry Pi
  • Untrusted inbound DMs from strangers
This makes it a rich implementation to study.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CDD6F4"/>
                </a:solidFill>
                <a:latin typeface="Calibri"/>
              </a:rPr>
              <a:t>T1: Structured System Prompt Partitioning for KV-Cache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7079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89B4FA"/>
                </a:solidFill>
                <a:latin typeface="Calibri"/>
              </a:rPr>
              <a:t>LLM Systems: </a:t>
            </a:r>
            <a:r>
              <a:rPr sz="1600" b="0" dirty="0">
                <a:solidFill>
                  <a:srgbClr val="89B4FA"/>
                </a:solidFill>
                <a:latin typeface="Calibri"/>
              </a:rPr>
              <a:t>AI, </a:t>
            </a:r>
            <a:r>
              <a:rPr lang="en-US" sz="1600" b="0" dirty="0">
                <a:solidFill>
                  <a:srgbClr val="89B4FA"/>
                </a:solidFill>
                <a:latin typeface="Calibri"/>
              </a:rPr>
              <a:t>Machine Learning</a:t>
            </a:r>
            <a:r>
              <a:rPr sz="1600" b="0" dirty="0">
                <a:solidFill>
                  <a:srgbClr val="89B4FA"/>
                </a:solidFill>
                <a:latin typeface="Calibri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5862"/>
            <a:ext cx="47129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sz="1000" dirty="0">
                <a:solidFill>
                  <a:srgbClr val="BAC2DE"/>
                </a:solidFill>
                <a:latin typeface="Calibri"/>
              </a:rPr>
              <a:t> inserts an explicit HTML comment — &lt;!-- OPENCLAW_CACHE_BOUNDARY --&gt; — to split the system prompt into a </a:t>
            </a:r>
            <a:r>
              <a:rPr sz="1000" b="1" dirty="0">
                <a:solidFill>
                  <a:srgbClr val="BAC2DE"/>
                </a:solidFill>
                <a:latin typeface="Calibri"/>
              </a:rPr>
              <a:t>stable prefix </a:t>
            </a:r>
            <a:r>
              <a:rPr sz="1000" dirty="0">
                <a:solidFill>
                  <a:srgbClr val="BAC2DE"/>
                </a:solidFill>
                <a:latin typeface="Calibri"/>
              </a:rPr>
              <a:t>and a </a:t>
            </a:r>
            <a:r>
              <a:rPr sz="1000" b="1" dirty="0">
                <a:solidFill>
                  <a:srgbClr val="BAC2DE"/>
                </a:solidFill>
                <a:latin typeface="Calibri"/>
              </a:rPr>
              <a:t>dynamic suffix</a:t>
            </a:r>
            <a:r>
              <a:rPr sz="1000" dirty="0">
                <a:solidFill>
                  <a:srgbClr val="BAC2DE"/>
                </a:solidFill>
                <a:latin typeface="Calibri"/>
              </a:rPr>
              <a:t>.
Per-run dynamic additions (skills, per-agent context, injected context) go AFTER the boundary; the static base prompt and stable workspace rules go BEFORE it.
Invariant: stable prefix bytes are identical across turns → KV cache always hits.
The system also enforces deterministic ordering in registries, plugin lists, file results, and map iteration specifically to preserve prompt bytes across turns.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860769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/agents/system-prompt-cache-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boundary.ts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
export const SYSTEM_PROMPT_CACHE_BOUNDARY = "\n&lt;!-- OPENCLAW_CACHE_BOUNDARY --&gt;\n";
export function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splitSystemPromptCacheBoundary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(text) {
  const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idx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 =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text.indexOf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(SYSTEM_PROMPT_CACHE_BOUNDARY);
  return {
   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stablePrefix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: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text.slice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(0,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idx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).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trimEnd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(),
   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dynamicSuffix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: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text.slice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(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idx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 + BOUNDARY_LEN).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trimStart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(),
  };
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390523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180344"/>
            <a:ext cx="47129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How much does explicit stable-prefix/dynamic-suffix partitioning improve KV-cache hit rate versus naive system prompt construction, at different request rates and providers?
Q2.  What is the optimal boundary placement heuristic? (Greedy maximize stable prefix? Information-theoretic stability scoring? Provider-specific token alignment?)
Q3.  What is the tradeoff between prompt expressiveness and cache stability as agent context grows?
Q4.  Can cache-stability scoring be automated as a linter/CI check (detecting when a commit moves stable content below the boundary)?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390523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213008"/>
            <a:ext cx="51479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Prompt caching is widely used (Anthropic, Google,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OpenAI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all support it) but the engineering discipline of maintaining stable prefix bytes across a long-lived assistant is underexplored.
Most discussion is at the API level;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provides a concrete production architecture to study and benchmark.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/agents/system-prompt-cache-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boundary.ts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/agents/prompt-cache-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stability.ts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/agents/cache-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trace.ts</a:t>
            </a:r>
            <a:endParaRPr lang="en-US" sz="1000" b="0" dirty="0">
              <a:solidFill>
                <a:srgbClr val="BAC2DE"/>
              </a:solidFill>
              <a:latin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3DF59A0-677E-4417-B07C-36A7E451F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582308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Prompt caching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sz="1100" b="0" dirty="0" err="1">
                          <a:solidFill>
                            <a:srgbClr val="BAC2DE"/>
                          </a:solidFill>
                          <a:latin typeface="Calibri"/>
                        </a:rPr>
                        <a:t>src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/agents/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system-prompt-cache-</a:t>
                      </a:r>
                      <a:r>
                        <a:rPr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boundary.ts</a:t>
                      </a:r>
                      <a:r>
                        <a:rPr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prompt-cache-</a:t>
                      </a:r>
                      <a:r>
                        <a:rPr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stability.ts</a:t>
                      </a:r>
                      <a:r>
                        <a:rPr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cache-</a:t>
                      </a:r>
                      <a:r>
                        <a:rPr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trace.ts</a:t>
                      </a:r>
                      <a:endParaRPr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T2: Adaptive Context Window Compaction with LLM-Generated Summaries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7706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89B4FA"/>
                </a:solidFill>
                <a:latin typeface="Calibri"/>
              </a:rPr>
              <a:t>AI, Computation and Language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5862"/>
            <a:ext cx="471294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When a session transcript approaches the context window limit,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'compacts' it by replacing older conversation turns with an LLM-generated summary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/agents/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compaction.ts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).
Features:
  • Chunked summarization (too large → split into chunks, summarize each, merge)
  • Identifier preservation policy (strict / custom / off) — preserving UUIDs, IPs
  • Retry with fallback to 'No prior history.' on error
  • Pre/post hooks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before_compaction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after_compaction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 for plugins
  • Transcript repair (tool-use result pairing, orphaned tool call cleanup)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2159698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/agents/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compaction.ts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export const BASE_CHUNK_RATIO = 0.4;
export const MIN_CHUNK_RATIO  = 0.15;
export const SAFETY_MARGIN    = 1.2; // 20% buffer for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estimateTokens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 inaccuracy
const MERGE_SUMMARIES_INSTRUCTIONS = [
  "Merge these partial summaries into a single cohesive summary.",
  "MUST PRESERVE:",
  "- Active tasks and their current status (in-progress, blocked, pending)",
  "- Batch operation progress (e.g., '5/17 items completed')",
  "- The last thing the user requested and what was being done about it",
];
const IDENTIFIER_PRESERVATION_INSTRUCTIONS =
  "Preserve all opaque identifiers exactly as written (no shortening or reconstruction), " +
  "including UUIDs, hashes, IDs, hostnames, IPs, ports, URLs, and file names.";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390523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180344"/>
            <a:ext cx="471294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How do different compaction triggers (token ratio vs. message count vs. time) affect downstream task performance on multi-turn agentic benchmarks?
Q2.  What is the impact of identifier preservation in LLM-generated summaries on correctness of downstream actions?
(E.g., does the model produce wrong git commit hashes or IPs when summaries reconstruct them?)
Q3.  Adaptive compression ratios: can a model-in-the-loop evaluate its own summary quality and request more context before compacting?
Q4.  Compaction strategies compared empirically: summary-based vs. sliding window vs. RAG-based episodic recall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vs.hybrid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— on a personal-assistant task suite.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390523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213008"/>
            <a:ext cx="51479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Context window management is a known problem but the production constraints of a single-user personal assistant motivate different tradeoffs than academic benchmarks.
  • The model may need to recall IDs from 2 hours ago
  • 'No prior history' is unacceptable for real users
  • The identifier preservation issue is a concrete failure mode not widely studied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compaction.ts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/agents/pi-embedded-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subscribe.handlers.compaction.ts</a:t>
            </a:r>
            <a:endParaRPr lang="en-US" sz="1000" b="0" dirty="0">
              <a:solidFill>
                <a:srgbClr val="BAC2DE"/>
              </a:solidFill>
              <a:latin typeface="Calibri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25DB625-12B9-4045-BDF6-14144B58E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319915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Compaction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sz="1100" b="0" dirty="0" err="1">
                          <a:solidFill>
                            <a:srgbClr val="BAC2DE"/>
                          </a:solidFill>
                          <a:latin typeface="Calibri"/>
                        </a:rPr>
                        <a:t>src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/agents/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compaction.ts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pi-embedded-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subscribe.handlers.compaction.ts</a:t>
                      </a:r>
                      <a:endParaRPr lang="en-US"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755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T3: Multi-Provider AI Failover at Single-User Scale: Cooldown Probing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0829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89B4FA"/>
                </a:solidFill>
                <a:latin typeface="Calibri"/>
              </a:rPr>
              <a:t>Systems Reliability: </a:t>
            </a:r>
            <a:r>
              <a:rPr lang="en-US" sz="1600" dirty="0">
                <a:solidFill>
                  <a:srgbClr val="89B4FA"/>
                </a:solidFill>
                <a:latin typeface="Calibri"/>
              </a:rPr>
              <a:t>Distributed, Parallel, and Cluster Computing</a:t>
            </a:r>
            <a:r>
              <a:rPr lang="en-US" sz="1600" b="0" dirty="0">
                <a:solidFill>
                  <a:srgbClr val="89B4FA"/>
                </a:solidFill>
                <a:latin typeface="Calibri"/>
              </a:rPr>
              <a:t>, </a:t>
            </a:r>
            <a:r>
              <a:rPr lang="en-US" sz="1600" dirty="0">
                <a:solidFill>
                  <a:srgbClr val="89B4FA"/>
                </a:solidFill>
                <a:latin typeface="Calibri"/>
              </a:rPr>
              <a:t>Artificial</a:t>
            </a:r>
            <a:r>
              <a:rPr lang="en-US" sz="1600" b="0" dirty="0">
                <a:solidFill>
                  <a:srgbClr val="89B4FA"/>
                </a:solidFill>
                <a:latin typeface="Calibri"/>
              </a:rPr>
              <a:t>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5862"/>
            <a:ext cx="471294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has a multi-layer failover system across AI providers. When a call fails, the system classifies the failure and applies different cooldown behaviors.
Beyond failure classification, the system supports:
  • Auth profile rotation (multiple API keys per provider, round-robin)
  • Cooldown auto-expiry tracking per profile
  • Probe slots (transient vs. permanent cooldowns)
  • Cross-provider fallback: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OpenAI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→ Anthropic → Gemini
  • Auth health monitoring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/agents/auth-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health.ts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
  • Doctor paths that detect and repair stale/failed auth configurations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485930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/agents/failover-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policy.ts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export function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shouldAllowCooldownProbeForReason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(reason) {
  return reason === "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rate_limit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"  || reason === "overloaded" ||
    reason === "billing"    || reason === "unknown"   || reason === "timeout";
}
export function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shouldPreserveTransientCooldownProbeSlot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(reason) {
  return reason === "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model_not_found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" || reason === "format" ||
    reason === "auth" || reason === "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auth_permanent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" || reason === "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session_expired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";
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390523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180344"/>
            <a:ext cx="47129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What failure mode taxonomy is appropriate for LLM API providers? (The codebase identifies: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rate_limit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, overload, billing, auth,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auth_permanent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,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session_expired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, format, timeout,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model_not_found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, unknown — is this sufficient/correct?)
Q2.  How do different probe/cooldown strategies affect p95 latency and availability for a personal AI assistant under realistic workloads?
Q3.  Is round-robin (ordered by last-used) the right key rotation algorithm, or do cost-aware/latency-aware strategies dominate?
Q4.  How should single-user systems handle the 'billing exhausted' failure mode differently from 'rate limited’ failures?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390523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213008"/>
            <a:ext cx="514794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Cloud reliability literature (circuit breakers, retry budgets, probe algorithms) is well-developed for services, but applying these patterns to LLM API orchestration at personal/single-user scale involves different constraints:
  • No horizontal scaling
  • Human-in-the-loop recovery
  • Provider-specific semantic failures
This is an underexplored operational angle.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/agents/failover-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policy.ts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/agents/auth-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profiles.ts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/agents/auth-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health.ts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/agents/model-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fallback.ts</a:t>
            </a:r>
            <a:endParaRPr lang="en-US" sz="1000" b="0" dirty="0">
              <a:solidFill>
                <a:srgbClr val="BAC2DE"/>
              </a:solidFill>
              <a:latin typeface="Calibri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35CF7EA-2D17-466E-B171-E61EABD9E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608145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Failover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sz="1100" b="0" dirty="0" err="1">
                          <a:solidFill>
                            <a:srgbClr val="BAC2DE"/>
                          </a:solidFill>
                          <a:latin typeface="Calibri"/>
                        </a:rPr>
                        <a:t>src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/agents/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failover-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policy.ts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auth-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profiles.ts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auth-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health.ts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model-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fallback.ts</a:t>
                      </a:r>
                      <a:endParaRPr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525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T4: Heterogeneous Message Channel Abstraction for Personal AI Gateways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0829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89B4FA"/>
                </a:solidFill>
                <a:latin typeface="Calibri"/>
              </a:rPr>
              <a:t>Networking and Internet Architecture, Software Engineering, Artificial</a:t>
            </a:r>
            <a:r>
              <a:rPr lang="en-US" sz="1600" b="0" dirty="0">
                <a:solidFill>
                  <a:srgbClr val="89B4FA"/>
                </a:solidFill>
                <a:latin typeface="Calibri"/>
              </a:rPr>
              <a:t>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5862"/>
            <a:ext cx="49377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bridges 25+ messaging platforms (WhatsApp, Telegram, Discord, Slack, Signal, iMessage, Matrix, IRC, LINE, WeChat, QQ,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Nostr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Twitch, ...) through a unified plugin-based channel abstraction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/channels/, extensions/*/)
Each channel has:
  • Different auth models (OAuth, QR scan,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phone+code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bot token, webhook)
  • Different message constraints (Discord: 2000 chars, WhatsApp: 65536, IRC: 512 bytes)
  • Different threading/group semantics
  • Different delivery guarantees (no receipt vs. read receipts vs. none)
  • Different media type support
Cross-channel identity linking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identityLinks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 allows the same user's Discord DM and WhatsApp DM to share a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485930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/routing/session-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key.ts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export function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buildAgentPeerSessionKey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(params: {
 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agentId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, channel,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accountId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,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peerKind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,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peerId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,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identityLinks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,
 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dmScope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: "main" | "per-peer" | "per-channel-peer" | "per-account-channel-peer"
}): 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409086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365975"/>
            <a:ext cx="471294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What is the minimal interface contract that captures the behavioral diversity of 25+ messaging platforms without over-abstracting? (Plugin SDK surface: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/plugin-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sdk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/channel-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contract.ts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)
Q2.  What privacy and security invariants must hold across all session scope configurations? (Failure mode: per-peer DM isolation misconfigured → Bob sees Alice's context)
Q3.  Can cross-channel identity linking be done without exposing cross-platform identity to third parties? What are the cryptographic and UX constraints?
Q4.  How should a personal AI handle channel-specific rate limits and throttling at the delivery layer vs. at the AI inference layer?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409086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398639"/>
            <a:ext cx="51479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Multi-channel personal AI is distinct from multi-tenant or enterprise chatbot design.
The challenge of preserving session context identity across heterogeneous protocols while maintaining strict isolation guarantees is a systems engineering problem with interesting formal properties.
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provides a concrete worked example with 25 adapters.
Key files:
  • extensions/ (channel plugin manifests)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/channels/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/routing/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8D91889-06C9-49DE-A724-C61E26F05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463629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Channels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extensions/, 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src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/channels/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Channel plugin manifests, 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src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/routing/</a:t>
                      </a:r>
                      <a:endParaRPr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092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T5: Streaming Text Delivery Across Constrained Messaging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0829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89B4FA"/>
                </a:solidFill>
                <a:latin typeface="Calibri"/>
              </a:rPr>
              <a:t>HCI / </a:t>
            </a:r>
            <a:r>
              <a:rPr lang="en-US" sz="1600" dirty="0">
                <a:solidFill>
                  <a:srgbClr val="89B4FA"/>
                </a:solidFill>
                <a:latin typeface="Calibri"/>
              </a:rPr>
              <a:t>Messaging</a:t>
            </a:r>
            <a:r>
              <a:rPr lang="en-US" sz="1600" b="0" dirty="0">
                <a:solidFill>
                  <a:srgbClr val="89B4FA"/>
                </a:solidFill>
                <a:latin typeface="Calibri"/>
              </a:rPr>
              <a:t> </a:t>
            </a:r>
            <a:r>
              <a:rPr lang="en-US" sz="1600" dirty="0">
                <a:solidFill>
                  <a:srgbClr val="89B4FA"/>
                </a:solidFill>
                <a:latin typeface="Calibri"/>
              </a:rPr>
              <a:t>UX: Networking and Internet Architecture, Human-Computer Interaction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5862"/>
            <a:ext cx="49377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implements a sophisticated streaming chunking system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EmbeddedBlockChunker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/agents/pi-embedded-block-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chunker.ts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):
  • Low bound: don't emit until buffer &gt;=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minChars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(avoid single-word spam)
  • High bound: prefer splits before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maxChars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; forced split at hard limit
  • Break preference: paragraph → newline → sentence → whitespace → hard break
  • Markdown fence awareness: never split inside code fences; close + reopen when forced
  • Coalescing: merge consecutive chunks during idle gaps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idleMs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 before sending
  • Per-channel constraints: Discord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maxLinesPerMessage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(17), WhatsApp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textChunkLimit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
Note: 'There is no true token-delta streaming to channel messages today. Preview streaming is message-based (send + edits/appends).' Telegram/Discord/Slack receive edited messages as a streaming simulation.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938992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/agents/pi-embedded-block-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chunker.ts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(conceptual)
// Break preference order:
//   paragraph break ('\n\n')  ← most preferred
//   newline          ('\n')
//   sentence end     ('. ' / '! ' / '? ')
//   whitespace
//   hard break       ← least preferred (forced)
//
// Markdown fence guard:
//   if (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insideCodeFence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)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closeCurrentFence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();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emitChunk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();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reopenFence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();
//
// Coalescing gate:
//   if (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timeSinceLastChunk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&lt;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idleMs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)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mergeIntoBuffer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();
//   else flush();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409086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365975"/>
            <a:ext cx="471294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What is the perceived quality difference between true token-delta streaming (like web UIs) vs. edit-based streaming vs. block-delivery streaming on messaging platforms?
Q2.  What chunking strategies minimize perceived latency while respecting platform constraints? (Empirical study of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minChars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maxChars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idleMs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tradeoffs)
Q3.  How do Markdown-aware chunking algorithms compare to naive length-based splits in practice? (Broken code fences, orphaned bullet points, etc.)
Q4.  What are the delivery semantics that a messaging abstraction layer must preserve to make LLM output readable across 25+ platforms with different threading models?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409086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398639"/>
            <a:ext cx="51479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Streaming delivery to messaging platforms is a real engineering challenge with measurable UX impact.
The Markdown-fence-aware chunking algorithm is a specific novel contribution that could be evaluated empirically against naive approaches.
Empirical tractability is high — a user study comparing streaming modes is feasible.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/agents/pi-embedded-block-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chunker.ts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/agents/pi-embedded-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subscribe.ts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docs/concepts/streaming.md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DF1089C-89FE-4109-B9A1-90C42CE38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88182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Streaming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sz="1100" b="0" dirty="0" err="1">
                          <a:solidFill>
                            <a:srgbClr val="BAC2DE"/>
                          </a:solidFill>
                          <a:latin typeface="Calibri"/>
                        </a:rPr>
                        <a:t>src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/agents/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pi-embedded-block-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chunker.ts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pi-embedded-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subscribe.ts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docs/concepts/streaming.md</a:t>
                      </a:r>
                      <a:endParaRPr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706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567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T6: Hybrid Episodic Memory for Personal AI: BM25 + Vector Search with Temporal Decay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0829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89B4FA"/>
                </a:solidFill>
                <a:latin typeface="Calibri"/>
              </a:rPr>
              <a:t>Artificial </a:t>
            </a:r>
            <a:r>
              <a:rPr lang="en-US" sz="1600" dirty="0">
                <a:solidFill>
                  <a:srgbClr val="89B4FA"/>
                </a:solidFill>
                <a:latin typeface="Calibri"/>
              </a:rPr>
              <a:t>Intelligence</a:t>
            </a:r>
            <a:r>
              <a:rPr lang="en-US" sz="1600" b="0" dirty="0">
                <a:solidFill>
                  <a:srgbClr val="89B4FA"/>
                </a:solidFill>
                <a:latin typeface="Calibri"/>
              </a:rPr>
              <a:t>, Information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09999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9" y="1487101"/>
            <a:ext cx="514794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The memory search system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/agents/memory-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search.ts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 runs two retrieval paths in parallel and merges results:
  Query
    ├─ Embedding → Vector Search  (semantic: 'gateway host' ≈ 'machine running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')
    └─ Tokenize  → BM25 Search    (lexical: exact IDs, error strings, config keys)
    → Weighted Merge → MMR Diversity Filter → Top-K
Additional features:
  • Temporal decay: 30-day half-life on older notes; evergreen files (MEMORY.md) exempt
  • MMR (Maximal Marginal Relevance): prevents redundant results from daily notes
  • Multimodal (with Gemini Embedding 2): index images and audio, search with text
  • Local embeddings: GGUF-based local model as fallback (no API key needed)
  • Session transcript indexing: opt-in recall of prior conversation history
  • Degraded mode: lexical ranking over FTS when no embedding provider is available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938992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/agents/memory-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search.ts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(architecture)
//
//  ┌─────────────┐      ┌─────────────────┐
//  │  BM25 Index │      │  Vector Index   │
//  │  (lexical)  │      │  (semantic)     │
//  └──────┬──────┘      └───────┬─────────┘
//         │                     │
//         └──────── merge ───────┘
//                      │
//           temporal decay weight
//          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half_life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= 30 days
//                      │
//             MMR diversity filter
//                      │
//                  Top-K 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3994609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297223"/>
            <a:ext cx="47129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How does the hybrid BM25+vector approach compare to pure semantic retrieval for the specific recall patterns of a personal AI assistant? (Key hypothesis: personal AI memory has high rate of exact-identifier recall needs — UUIDs, error messages, config keys — that semantic-only approaches miss)
Q2.  What temporal decay function is optimal for personal AI memory? (The current half-life=30d is a guess — what does empirical data say about how quickly personal context goes stale?)
Q3.  How does MMR diversity interact with temporal decay in multi-day note archives?
Q4.  What are the recall/precision characteristics of session transcript indexing vs. structured note-taking vs. no memory augmentation on realistic personal-assistant tasks?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402211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329887"/>
            <a:ext cx="514794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Personal AI memory is distinct from enterprise RAG:
  • The corpus is small (one person's notes)
  • Extremely heterogeneous content
  • High-stakes exact-identifier recall requirements
    (getting someone's IP wrong causes a real operational failure)
The temporal decay + hybrid retrieval architecture is a coherent system design worth formalizing and evaluating.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/agents/memory-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search.ts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docs/concepts/memory-search.md
  • extensions/active-memory/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FF952D8-9373-49F1-B166-E83C2FC52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398062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050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3381735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Memory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src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/agents/memory-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search.ts</a:t>
                      </a:r>
                      <a:endParaRPr lang="en-US" sz="1100" b="0" dirty="0">
                        <a:solidFill>
                          <a:srgbClr val="BAC2DE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docs/concepts/memory-search.md, extensions/active-memory/</a:t>
                      </a:r>
                      <a:endParaRPr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675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567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T7: Hierarchical Sub-Agent Orchestration with Registry-Backed Lifecycle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0829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89B4FA"/>
                </a:solidFill>
                <a:latin typeface="Calibri"/>
              </a:rPr>
              <a:t>Multi-Agent Systems : Artificial </a:t>
            </a:r>
            <a:r>
              <a:rPr lang="en-US" sz="1600" dirty="0">
                <a:solidFill>
                  <a:srgbClr val="89B4FA"/>
                </a:solidFill>
                <a:latin typeface="Calibri"/>
              </a:rPr>
              <a:t>Intelligence, Distributed, Parallel, and Cluster Computing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57506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4608"/>
            <a:ext cx="49377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implements a sub-agent spawning system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/agents/subagent-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registry.ts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and ~30 related files) where the main agent can spawn child sessions.
Key properties:
  • Depth limits: explicit limits on sub-agent nesting depth
  • Orphan recovery: on gateway restart, detect and reconcile in-flight runs
  • Persistence: registry survives process restart (subagent-registry-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state.ts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
  • Announcement queue: sub-agent completion notifications with retry + timeout
  • Scope inheritance: sub-agents inherit sandbox policies, tool policies, workspace root
  • ACP child sessions: ACP-spawned sub-agents inherit envelope constraints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938992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/agents/subagent-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registry.ts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// Completion reasons:
SUBAGENT_ENDED_REASON_COMPLETE
SUBAGENT_ENDED_REASON_ERROR
SUBAGENT_ENDED_REASON_KILLED
// Registry operations:
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countActiveDescendantRunsFromRuns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
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countPendingDescendantRunsExcludingRunFromRuns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
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isSubagentSessionRunActiveFromRuns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
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reconcileOrphanedRun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          // handles process crash recovery
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reconcileOrphanedRestoredRuns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 // handles gateway restart mid-run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3733355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008466"/>
            <a:ext cx="47129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What failure modes are unique to hierarchical AI agent orchestration that do not appear in flat multi-agent or single-agent systems? (Orphan detection, depth explosion, announce queue saturation, cascading timeouts)
Q2.  How should a personal AI gateway handle the 'sub-agent completed while parent was compacting' race condition? What are the correct semantics?
Q3.  What depth limits are empirically appropriate for multi-turn sub-agent tasks? (Tradeoff: too shallow → tasks can't be decomposed; too deep → resource exhaustion)
Q4.  Is registry-backed persistence (write-ahead-log style) the right architecture for sub-agent state, or should it be event-sourced, in-memory, or something else?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3733353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041130"/>
            <a:ext cx="514794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Sub-agent orchestration in production is getting real (Codex, Claude Code, etc.) but the reliability engineering layer is rarely documented:
  • Orphan detection
  • Crash recovery
  • Announce queues
  • Depth limits
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provides a complete production implementation to study and generalize.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/agents/subagent-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registry.ts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/agents/subagent-registry-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lifecycle.ts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/agents/subagent-orphan-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recovery.ts</a:t>
            </a:r>
            <a:endParaRPr lang="en-US" sz="1000" b="0" dirty="0">
              <a:solidFill>
                <a:srgbClr val="BAC2DE"/>
              </a:solidFill>
              <a:latin typeface="Calibri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AA4E570-B74E-43ED-B16A-DB2AFCBCF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04884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Calibri"/>
                        </a:rPr>
                        <a:t>Sug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-agents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sz="1100" b="0" dirty="0" err="1">
                          <a:solidFill>
                            <a:srgbClr val="BAC2DE"/>
                          </a:solidFill>
                          <a:latin typeface="Calibri"/>
                        </a:rPr>
                        <a:t>src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/agents/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subagent-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registry.ts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subagent-registry-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lifecycle.ts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subagent-orphan-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recovery.ts</a:t>
                      </a:r>
                      <a:endParaRPr lang="en-US"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575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567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T8: Device Pairing as a Trust Mechanism for Ambient Personal AI Gateways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0829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89B4FA"/>
                </a:solidFill>
                <a:latin typeface="Calibri"/>
              </a:rPr>
              <a:t>Security, Trust</a:t>
            </a:r>
            <a:r>
              <a:rPr lang="en-US" sz="1600" dirty="0">
                <a:solidFill>
                  <a:srgbClr val="89B4FA"/>
                </a:solidFill>
                <a:latin typeface="Calibri"/>
              </a:rPr>
              <a:t>: Cryptography and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7499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12096"/>
            <a:ext cx="49377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uses a challenge-based device pairing protocol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/pairing/) for all WebSocket clients (operators, companion apps, nodes):
  • Every connect must sign a server-issued nonce challenge
  • Signature payload v3 binds: device ID + platform +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deviceFamily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
    (prevents impersonation by a different device class)
  • Gateway issues device tokens for subsequent connects after first approval
  • Repair pairing required if platform/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deviceFamily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changes
  • Network zone-sensitive trust:
      Local loopback  → auto-approve (same-host UX)
      LAN /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Tailscale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→ explicit approval required
      Public internet → explicit approval required
DM pairing (separate from device pairing) handles unknown inbound senders:
  Unknown WhatsApp sender → bot issues pairing code
  User tells operator the code out-of-band
  Operator: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pairing approve telegram &lt;code&gt;
  → sender added to local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allowlist</a:t>
            </a:r>
            <a:endParaRPr lang="en-US" sz="10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938992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/pairing/ — challenge protocol v3
//
// Server issues:   { nonce,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expiresAt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}
// Client signs:    sign(nonce +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deviceId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+ platform +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deviceFamily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)
// Server verifies: signature + binding
// On success:      issue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deviceToken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for subsequent connections
//
// Network zone trust table:
//   loopback  (127.0.0.1)  → AUTO-APPROVE
//   LAN       (192.168.x)  → EXPLICIT REQUIRED
//  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Tailscale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(100.x.x.x)  → EXPLICIT REQUIRED
//   Public    (0.0.0.0/0)  → EXPLICIT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396711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242223"/>
            <a:ext cx="471294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What is the correct threat model for a personal AI gateway vs. a multi-tenant service? (Key difference: operator and primary user are the same person — the gateway's threat model is mostly inbound attacker via channels, not malicious operator)
Q2.  How does network-zone-sensitive auto-approval (loopback OK, LAN explicit) compare to alternatives (always require approval, PIN-based, biometric) on the UX/security Pareto frontier?
Q3.  What is the formal security model for the v3 challenge signature that binds platform +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deviceFamily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? What attacks does it prevent, and what attacks remain?
Q4.  The DM pairing ('stranger sends a code') is an invitation system. What social engineering attacks does it enable, and how does rate-limiting the pairing flow defend against them?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396711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274887"/>
            <a:ext cx="514794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Ambient personal AI assistants that listen on real messaging channels have a fundamentally different trust model from cloud services:
  • Single-tenant but multi-ingress
  • Inbound attacks come through third-party platforms (WhatsApp, Telegram)
    rather than through the gateway itself
  • The operator IS the user — no separation of concerns
This threat model is under-formalized in the security literature.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/pairing/pairing-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store.ts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/pairing/pairing-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challenge.ts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docs/gateway/pairing.md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1E9DB0A-B140-428F-BAFE-7CE42CDBC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188043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Trust/Pairing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src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/pairing/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pairing-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store.ts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pairing-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challenge.ts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docs/gateway/pairing.md</a:t>
                      </a:r>
                      <a:endParaRPr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631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567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T9: Protocol Bridge Architecture for IDE-Integrated Personal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0829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89B4FA"/>
                </a:solidFill>
                <a:latin typeface="Calibri"/>
              </a:rPr>
              <a:t>AI Systems Integration: Software Engineering, Artificial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3750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9" y="1356476"/>
            <a:ext cx="5147945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The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acp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command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acp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translator.ts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 bridges three protocol layers:
  IDE / Editor
    ↕ ACP (Agent Client Protocol —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stdio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@agentclientprotocol/sdk)
  ACP Translator
    ↕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Gateway WebSocket (custom RPC —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/gateway/protocol/)
  Gateway
    ↕ MCP (Model Context Protocol — via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mcporter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
  External MCP Servers
The translator handles:
  • Session ID mapping (ACP session UUID ↔ Gateway session key)
  • Event mapping (Gateway agent stream events → ACP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tool_call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/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output_text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/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usage_update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
  • Stop reason translation (Gateway stop codes → ACP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StopReason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enum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
  • Rate limiting at the ACP layer (DoS protection: max 2MB prompt, fixed-window)
  • Best-effort session replay (user/assistant text, not tool history)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938992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acp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translator.ts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const MAX_PROMPT_BYTES = 2 * 1024 * 1024; // CWE-400 / GHSA-cxpw-2g23-2vgw
const ACP_LOAD_SESSION_REPLAY_LIMIT = 1_000_000;
// Protocol layer stack:
//   IDE (ACP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stdio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) → translator → Gateway WebSocket → MCP servers
//
// Session mapping:
//   ACP  session UUID  ←→  Gateway '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agent:main:main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' key
//
// Event translation:
//   Gateway: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agent_stream_delta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 →  ACP: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output_text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//   Gateway: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tool_use_start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     →  ACP: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tool_call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//   Gateway: usage               →  ACP: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usage_update</a:t>
            </a:r>
            <a:endParaRPr lang="en-US" sz="800" dirty="0">
              <a:solidFill>
                <a:srgbClr val="A6E3A1"/>
              </a:solidFill>
              <a:latin typeface="Courier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4015237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290348"/>
            <a:ext cx="471294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What is the minimal faithful translation between ACP's session model and a Gateway-backed WebSocket session model? Where do the semantics genuinely diverge?
Q2.  How should a bridge handle partial protocol coverage? (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explicitly documents which ACP features are unsupported, partial, or implemented — this is rare transparency)
Q3.  What are the failure modes of event stream impedance mismatch between protocols? (Gateway streams tool events; ACP expects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tool_call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with structured locations)
Q4.  Is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stdio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-based ACP the right transport for IDE integration, or does the stateless request-response model of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stdio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clash with the stateful streaming model of LLM inference?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4015235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323012"/>
            <a:ext cx="514794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Protocol proliferation in AI tooling (ACP, MCP,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OpenAI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Responses API, custom WebSocket formats) creates a real interoperability problem.
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OpenClaw's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translator is a concrete production bridge with documented limitations and workarounds — a case study in AI protocol impedance.
This kind of transparent documentation of partial protocol support is rare and valuable for the research community.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acp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translator.ts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acp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/event-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mapper.ts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acp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/session-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mapper.ts</a:t>
            </a:r>
            <a:endParaRPr lang="en-US" sz="1000" b="0" dirty="0">
              <a:solidFill>
                <a:srgbClr val="BAC2DE"/>
              </a:solidFill>
              <a:latin typeface="Calibri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BB212DD-B849-4310-9D75-16AF0E1D7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066424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Protocol Bridge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src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acp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translator.ts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event-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mapper.ts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session-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mapper.ts</a:t>
                      </a:r>
                      <a:endParaRPr lang="en-US"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3321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567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T10: Architectural Boundary Enforcement in Large TypeScript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0829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89B4FA"/>
                </a:solidFill>
                <a:latin typeface="Calibri"/>
              </a:rPr>
              <a:t>Software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3750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14603"/>
            <a:ext cx="49377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has ~100 bundled plugins in extensions/, a core in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/, and a public SDK in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/plugin-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sdk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/. Boundary rules are enforced through multiple layers:
  1. TypeScript path mapping (extensions/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tsconfig.package-boundary.paths.json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
     — redirects core imports to SDK-only paths when compiling extension code
  2. CI architecture gate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pnpm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check:architecture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/ check-additional)
     — runs madge cycle detection and a custom architecture check
  3. Module boundary linting —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oxlint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rules on import patterns
  4. Pre-commit hooks —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pnpm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check:changed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--staged validates staged changes
  5. Human-readable AGENTS.md rules — explicitly prohibit certain import patterns
Rule: extensions import from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/plugin-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sdk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/* and their own local barrels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api.ts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runtime-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api.ts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). Core must not deep-import extension internals.
Violations in the real world tend to be 'plugin needs a core helper that isn't in the SDK yet' —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OpenClaw's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answer is to expand the SDK rather than breach the boundary.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938992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extensions/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tsconfig.package-boundary.paths.json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// Redirects all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openclaw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/* imports →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openclaw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/plugin-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sdk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/* equivalents
// when compiling extension (plugin) code.
//
// Enforcement stack:
//   TypeScript path mapping    ← compile-time
//  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oxlint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import rules        ← lint-time
//   madge cycle detection      ← CI gate
//  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pnpm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check:architecture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   ← CI gate
//   AGENTS.md rules            ← human review
//   pre-commit hooks           ← developer workflow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3987736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262847"/>
            <a:ext cx="471294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How effective are different boundary enforcement mechanisms (type-level, linter, CI gate, human rules) individually and in combination? What enforcement layer catches what class of violation?
Q2.  What is the maintenance cost of strict plugin boundaries in a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monorepo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with 100+ plugins over time? (Does the SDK surface grow to absorb boundary pressure? Does it ever shrink?)
Q3.  Can boundary violations be automatically detected and fixed using LLM-assisted refactoring? (The fix is usually 'extract to SDK + update both sides' — a well-defined mechanical task)
Q4.  What is the relationship between plugin boundary strictness and the ease of third-party plugin development? (Tighter boundaries → more stable third-party surface, but also more friction for bundled plugins)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3987734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295511"/>
            <a:ext cx="514794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Plugin architecture boundary enforcement is discussed in software engineering literature (OSGi, Eclipse, microkernel design) but rarely studied empirically in modern TypeScript AI systems where boundaries must coexist with fast iteration.
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provides a measurable real-world subject with:
  • Explicit boundary rules
  • CI enforcement
  • A growing plugin corpus (~100 bundled plugins)
Key files:
  • extensions/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tsconfig.package-boundary.paths.json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/plugin-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sdk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
  • scripts/check-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architecture.ts</a:t>
            </a:r>
            <a:endParaRPr lang="en-US" sz="1000" b="0" dirty="0">
              <a:solidFill>
                <a:srgbClr val="BAC2DE"/>
              </a:solidFill>
              <a:latin typeface="Calibri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DD035C7-163B-436C-8649-6D8A5D7EC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337741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29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345048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Boundaries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extensions/, 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src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/plugin-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sdk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tsconfig.package-boundary.paths.json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scripts/check-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architecture.ts</a:t>
                      </a:r>
                      <a:endParaRPr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185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DD6F4"/>
                </a:solidFill>
                <a:latin typeface="Calibri"/>
              </a:rPr>
              <a:t>Meta: Which Topics Have the Best arXiv Potential?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417320"/>
          <a:ext cx="116128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DD6F4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DD6F4"/>
                          </a:solidFill>
                          <a:latin typeface="Calibri"/>
                        </a:rPr>
                        <a:t>Novelty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DD6F4"/>
                          </a:solidFill>
                          <a:latin typeface="Calibri"/>
                        </a:rPr>
                        <a:t>Empirical Tractability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DD6F4"/>
                          </a:solidFill>
                          <a:latin typeface="Calibri"/>
                        </a:rPr>
                        <a:t>Broader Relevance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T1: Prompt prefix caching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High (A/B on real system)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Very High — affects all LLM apps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T2: Context compaction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Medium-High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High — context length is unsolved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T3: Provider failover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High (synthetic workloads)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T4: Multi-channel abstraction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Low (breadth study)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T5: Streaming delivery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Low-Medium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High (user study)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T6: Hybrid memory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High (benchmark suite)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High — RAG for personal AI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T7: Sub-agent orchestration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 (fault injection)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Very High — agent reliability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T8: Device pairing trust model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Low (formal analysis)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T9: Protocol bridge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Low (case study)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T10: Boundary enforcement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 (empirical)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DD6F4"/>
                </a:solidFill>
                <a:latin typeface="Calibri"/>
              </a:rPr>
              <a:t>Recommended Starting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C2DE"/>
                </a:solidFill>
                <a:latin typeface="Calibri"/>
              </a:rPr>
              <a:t>Quickest to paper:
  • T1 (Prompt Caching): concrete engineering decision, measurable outcomes, real system baseline
  • T5 (Streaming Delivery): concrete algorithm, user study feasible, novel Markdown-aware chunker
Highest impact if well-executed:
  • T2 (Context Compaction): addresses unsolved problems in LLM systems; production baseline to compare against
  • T6 (Hybrid Memory): personal AI RAG is under-studied; temporal decay + hybrid retrieval is original architecture
Most novel conceptually:
  • T7 (Sub-Agent Orchestration Reliability): almost no literature on orphan detection, crash recovery,
    announce queues, depth limits in hierarchical agent systems
  • T8 (Personal AI Trust Model): single-tenant multi-ingress threat model is under-formalized;
    formal security analysis of v3 challenge signature is tractable
Cross-cutting opportunity:
  • T1 + T2 + T6 together form a complete 'LLM context management for personal AI'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</TotalTime>
  <Words>5788</Words>
  <Application>Microsoft Office PowerPoint</Application>
  <PresentationFormat>Custom</PresentationFormat>
  <Paragraphs>173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Michael Atamuk (A)</dc:creator>
  <cp:keywords/>
  <dc:description>generated using python-pptx</dc:description>
  <cp:lastModifiedBy>Michael Atamuk (A)</cp:lastModifiedBy>
  <cp:revision>92</cp:revision>
  <dcterms:created xsi:type="dcterms:W3CDTF">2013-01-27T09:14:16Z</dcterms:created>
  <dcterms:modified xsi:type="dcterms:W3CDTF">2026-04-24T08:51:12Z</dcterms:modified>
  <cp:category/>
</cp:coreProperties>
</file>