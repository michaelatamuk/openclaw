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2" r:id="rId42"/>
    <p:sldId id="303" r:id="rId43"/>
    <p:sldId id="304" r:id="rId4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ED5FB-9DEC-4990-97B0-F9F5F1EB80B7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A5F32-7D76-40ED-872D-10DB742C0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36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A5F32-7D76-40ED-872D-10DB742C0D8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30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172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09728" cy="20116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FF"/>
                </a:solidFill>
              </a:rPr>
              <a:t>🦞 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Developer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A comprehensive onboarding guide for contributors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AEE"/>
                </a:solidFill>
              </a:rPr>
              <a:t>Multi-channel AI Gateway  ·  TypeScript  ·  Node.js  ·  Plugin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749039"/>
            <a:ext cx="5760720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88CC"/>
                </a:solidFill>
              </a:rPr>
              <a:t>v2026.4.20  ·  github.com/openclaw/openclaw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1.  What is OpenClaw?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7335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2.  Architecture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1226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3.  Project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5117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4.  Core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9008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5.  Development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2900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6.  Development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6791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7. 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8.  Plugin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7335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9.  Key Architectural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1226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10.  Contributing Guidelines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5117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11. 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9008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12.  Quick Start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2900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  13.  Understanding the Codebase by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1. What is OpenClaw?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Personal AI assistant · Gateway · Multi-channel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OpenClaw?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Core identity and key characteristics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600" b="1" i="0" dirty="0" err="1">
                <a:solidFill>
                  <a:srgbClr val="11204E"/>
                </a:solidFill>
              </a:rPr>
              <a:t>OpenClaw</a:t>
            </a:r>
            <a:r>
              <a:rPr sz="1600" b="1" i="0" dirty="0">
                <a:solidFill>
                  <a:srgbClr val="11204E"/>
                </a:solidFill>
              </a:rPr>
              <a:t> is a personal AI assistant that runs on your own devices and</a:t>
            </a:r>
            <a:r>
              <a:rPr lang="en-US" sz="1600" b="1" i="0" dirty="0">
                <a:solidFill>
                  <a:srgbClr val="11204E"/>
                </a:solidFill>
              </a:rPr>
              <a:t> </a:t>
            </a:r>
            <a:r>
              <a:rPr sz="1600" b="1" i="0" dirty="0">
                <a:solidFill>
                  <a:srgbClr val="11204E"/>
                </a:solidFill>
              </a:rPr>
              <a:t>answers you through the messaging channels you already use.</a:t>
            </a:r>
          </a:p>
          <a:p>
            <a:pPr algn="l"/>
            <a:endParaRPr sz="1600" b="1" i="0" dirty="0">
              <a:solidFill>
                <a:srgbClr val="11204E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 i="0" dirty="0">
                <a:solidFill>
                  <a:srgbClr val="E65100"/>
                </a:solidFill>
              </a:rPr>
              <a:t>Key Characteristics: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Multi-channel AI Gateway:  Connects to 25+ messaging platforms (WhatsApp, Telegram, Slack, Discord, Signal, iMessage, Matrix, …)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Local-first:  Runs on your devices, with your rules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Privacy-focused:  You control where your data goes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Extensible:  Plugin-based architecture for channels, AI providers, and tools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Cross-platform:  Gateway (Node.js) + macOS / iOS / Android companion apps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Real capabilities:  Browser automation, canvas rendering, voice wake, file I/O, </a:t>
            </a:r>
            <a:r>
              <a:rPr sz="1400" b="0" i="0" dirty="0" err="1">
                <a:solidFill>
                  <a:srgbClr val="333333"/>
                </a:solidFill>
              </a:rPr>
              <a:t>cron</a:t>
            </a:r>
            <a:r>
              <a:rPr sz="1400" b="0" i="0" dirty="0">
                <a:solidFill>
                  <a:srgbClr val="333333"/>
                </a:solidFill>
              </a:rPr>
              <a:t> jobs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Product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VISION.md — The north star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1521440" cy="1143000"/>
          </a:xfrm>
          <a:prstGeom prst="rect">
            <a:avLst/>
          </a:prstGeom>
          <a:solidFill>
            <a:srgbClr val="E8F0FF"/>
          </a:solidFill>
          <a:ln w="12700">
            <a:solidFill>
              <a:srgbClr val="112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11204E"/>
                </a:solidFill>
              </a:rPr>
              <a:t>"OpenClaw is the AI that actually does things.
It runs on your devices, in your channels, with your rules."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68880"/>
            <a:ext cx="11521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400" b="0" i="1" dirty="0">
                <a:solidFill>
                  <a:srgbClr val="777777"/>
                </a:solidFill>
              </a:rPr>
              <a:t>Project evolution:  </a:t>
            </a:r>
            <a:r>
              <a:rPr sz="1400" b="0" i="1" dirty="0" err="1">
                <a:solidFill>
                  <a:srgbClr val="777777"/>
                </a:solidFill>
              </a:rPr>
              <a:t>Warelay</a:t>
            </a:r>
            <a:r>
              <a:rPr sz="1400" b="0" i="1" dirty="0">
                <a:solidFill>
                  <a:srgbClr val="777777"/>
                </a:solidFill>
              </a:rPr>
              <a:t> → </a:t>
            </a:r>
            <a:r>
              <a:rPr sz="1400" b="0" i="1" dirty="0" err="1">
                <a:solidFill>
                  <a:srgbClr val="777777"/>
                </a:solidFill>
              </a:rPr>
              <a:t>Clawdbot</a:t>
            </a:r>
            <a:r>
              <a:rPr sz="1400" b="0" i="1" dirty="0">
                <a:solidFill>
                  <a:srgbClr val="777777"/>
                </a:solidFill>
              </a:rPr>
              <a:t> → </a:t>
            </a:r>
            <a:r>
              <a:rPr sz="1400" b="0" i="1" dirty="0" err="1">
                <a:solidFill>
                  <a:srgbClr val="777777"/>
                </a:solidFill>
              </a:rPr>
              <a:t>Moltbot</a:t>
            </a:r>
            <a:r>
              <a:rPr sz="1400" b="0" i="1" dirty="0">
                <a:solidFill>
                  <a:srgbClr val="777777"/>
                </a:solidFill>
              </a:rPr>
              <a:t> → </a:t>
            </a:r>
            <a:r>
              <a:rPr sz="1400" b="0" i="1" dirty="0" err="1">
                <a:solidFill>
                  <a:srgbClr val="777777"/>
                </a:solidFill>
              </a:rPr>
              <a:t>OpenClaw</a:t>
            </a:r>
            <a:endParaRPr sz="1400" b="0" i="1" dirty="0">
              <a:solidFill>
                <a:srgbClr val="777777"/>
              </a:solidFill>
            </a:endParaRPr>
          </a:p>
          <a:p>
            <a:pPr algn="l"/>
            <a:endParaRPr sz="1400" b="0" i="1" dirty="0">
              <a:solidFill>
                <a:srgbClr val="777777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 i="0" dirty="0">
                <a:solidFill>
                  <a:srgbClr val="E65100"/>
                </a:solidFill>
              </a:rPr>
              <a:t>Current focus: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Security and safe defaults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▸  Bug fixes and stability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▸  Setup reliability and first-run UX</a:t>
            </a:r>
          </a:p>
          <a:p>
            <a:pPr algn="l"/>
            <a:endParaRPr sz="1400" b="0" i="0" dirty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 i="0" dirty="0">
                <a:solidFill>
                  <a:srgbClr val="E65100"/>
                </a:solidFill>
              </a:rPr>
              <a:t>Next priorities: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▸  Supporting all major model providers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▸  Improving major messaging channel support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▸  Better computer-use and agent harness capabilities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▸  Companion apps on macOS, iOS, Android, Windows, Linux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2.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Gateway-centric · WebSocket · Plugin-based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595051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985552"/>
            <a:ext cx="5669280" cy="3291840"/>
          </a:xfrm>
          <a:prstGeom prst="rect">
            <a:avLst/>
          </a:prstGeom>
          <a:solidFill>
            <a:srgbClr val="E8F0FF"/>
          </a:solidFill>
          <a:ln w="19050">
            <a:solidFill>
              <a:srgbClr val="112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5973854"/>
            <a:ext cx="156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1204E"/>
                </a:solidFill>
              </a:rPr>
              <a:t>Gateway (Node.js)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44194"/>
            <a:ext cx="1473120" cy="6858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644194"/>
            <a:ext cx="147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Channels
(Plugins)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2343" y="3644194"/>
            <a:ext cx="1473120" cy="6858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52343" y="3644194"/>
            <a:ext cx="147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</a:rPr>
              <a:t>Agents
(Core)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6160" y="3686671"/>
            <a:ext cx="1473120" cy="6858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96160" y="3686671"/>
            <a:ext cx="147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Providers
(Plugins)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000" y="4410284"/>
            <a:ext cx="17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11204E"/>
                </a:solidFill>
              </a:rPr>
              <a:t>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3081" y="4410284"/>
            <a:ext cx="17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11204E"/>
                </a:solidFill>
              </a:rPr>
              <a:t>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8858" y="4357426"/>
            <a:ext cx="17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11204E"/>
                </a:solidFill>
              </a:rPr>
              <a:t>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268457"/>
            <a:ext cx="5178240" cy="54864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268457"/>
            <a:ext cx="517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WebSocket Gateway Protocol  (RPC — TypeBox validated JSON)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5760" y="2363420"/>
            <a:ext cx="446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11204E"/>
                </a:solidFill>
              </a:rPr>
              <a:t>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1435456"/>
            <a:ext cx="1562400" cy="685800"/>
          </a:xfrm>
          <a:prstGeom prst="rect">
            <a:avLst/>
          </a:prstGeom>
          <a:solidFill>
            <a:srgbClr val="374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1435456"/>
            <a:ext cx="156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</a:rPr>
              <a:t>CLI / Web Admin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2343" y="1446085"/>
            <a:ext cx="1562400" cy="685800"/>
          </a:xfrm>
          <a:prstGeom prst="rect">
            <a:avLst/>
          </a:prstGeom>
          <a:solidFill>
            <a:srgbClr val="374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52343" y="1446085"/>
            <a:ext cx="156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WebChat 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50441" y="1446039"/>
            <a:ext cx="1562400" cy="685800"/>
          </a:xfrm>
          <a:prstGeom prst="rect">
            <a:avLst/>
          </a:prstGeom>
          <a:solidFill>
            <a:srgbClr val="3747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50441" y="1446039"/>
            <a:ext cx="156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</a:rPr>
              <a:t>Nodes
(iOS / macOS / Android)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320040" y="1028768"/>
            <a:ext cx="5669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77777"/>
                </a:solidFill>
              </a:rPr>
              <a:t>Thin clients — all intelligence lives in the Gateway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28F88F-74B4-4A91-BF03-6D5F02306291}"/>
              </a:ext>
            </a:extLst>
          </p:cNvPr>
          <p:cNvSpPr/>
          <p:nvPr/>
        </p:nvSpPr>
        <p:spPr>
          <a:xfrm>
            <a:off x="6748431" y="1600962"/>
            <a:ext cx="73152" cy="6858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C1EC57-4C46-40D4-A6C0-31D915D5A237}"/>
              </a:ext>
            </a:extLst>
          </p:cNvPr>
          <p:cNvSpPr txBox="1"/>
          <p:nvPr/>
        </p:nvSpPr>
        <p:spPr>
          <a:xfrm>
            <a:off x="6931311" y="163753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</a:rPr>
              <a:t>1.  Gateway-Centric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53BE7A-AC85-496E-979A-ACFC8532975C}"/>
              </a:ext>
            </a:extLst>
          </p:cNvPr>
          <p:cNvSpPr txBox="1"/>
          <p:nvPr/>
        </p:nvSpPr>
        <p:spPr>
          <a:xfrm>
            <a:off x="6931311" y="1948434"/>
            <a:ext cx="5106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Single long-lived Gateway daemon owns ALL messaging surfaces. One process per host.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762C53-6F75-45F7-BC4C-6670C8876E33}"/>
              </a:ext>
            </a:extLst>
          </p:cNvPr>
          <p:cNvSpPr/>
          <p:nvPr/>
        </p:nvSpPr>
        <p:spPr>
          <a:xfrm>
            <a:off x="6748431" y="2561082"/>
            <a:ext cx="73152" cy="685800"/>
          </a:xfrm>
          <a:prstGeom prst="rect">
            <a:avLst/>
          </a:prstGeom>
          <a:solidFill>
            <a:srgbClr val="1A7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C3224A-6481-42CB-B9F9-9F3ED58CB4E2}"/>
              </a:ext>
            </a:extLst>
          </p:cNvPr>
          <p:cNvSpPr txBox="1"/>
          <p:nvPr/>
        </p:nvSpPr>
        <p:spPr>
          <a:xfrm>
            <a:off x="6931311" y="259765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5BD"/>
                </a:solidFill>
              </a:rPr>
              <a:t>2.  WebSocket Control Plane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AC2C2C-999A-4ED4-A10F-7F2B48BE3B88}"/>
              </a:ext>
            </a:extLst>
          </p:cNvPr>
          <p:cNvSpPr txBox="1"/>
          <p:nvPr/>
        </p:nvSpPr>
        <p:spPr>
          <a:xfrm>
            <a:off x="6931311" y="2908554"/>
            <a:ext cx="5106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Every client — CLI, apps, nodes, IDEs — connects via authenticated WebSocket.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08FB07-33E2-4382-BCAE-8EE555400A11}"/>
              </a:ext>
            </a:extLst>
          </p:cNvPr>
          <p:cNvSpPr/>
          <p:nvPr/>
        </p:nvSpPr>
        <p:spPr>
          <a:xfrm>
            <a:off x="6748431" y="3521202"/>
            <a:ext cx="73152" cy="685800"/>
          </a:xfrm>
          <a:prstGeom prst="rect">
            <a:avLst/>
          </a:prstGeom>
          <a:solidFill>
            <a:srgbClr val="1B8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0B3F5A-FCC0-4557-B67A-AFC3F44B6E51}"/>
              </a:ext>
            </a:extLst>
          </p:cNvPr>
          <p:cNvSpPr txBox="1"/>
          <p:nvPr/>
        </p:nvSpPr>
        <p:spPr>
          <a:xfrm>
            <a:off x="6931311" y="355777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803C"/>
                </a:solidFill>
              </a:rPr>
              <a:t>3.  Plugin-Based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492541-C6A5-46BB-A51D-135E52EFE346}"/>
              </a:ext>
            </a:extLst>
          </p:cNvPr>
          <p:cNvSpPr txBox="1"/>
          <p:nvPr/>
        </p:nvSpPr>
        <p:spPr>
          <a:xfrm>
            <a:off x="6931311" y="3868674"/>
            <a:ext cx="5106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Channels and providers are plugins. Core stays lean and extension-agnostic.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A5AE55-BB0F-414B-B0A5-4BB3A397D78F}"/>
              </a:ext>
            </a:extLst>
          </p:cNvPr>
          <p:cNvSpPr/>
          <p:nvPr/>
        </p:nvSpPr>
        <p:spPr>
          <a:xfrm>
            <a:off x="6748431" y="4481322"/>
            <a:ext cx="73152" cy="685800"/>
          </a:xfrm>
          <a:prstGeom prst="rect">
            <a:avLst/>
          </a:prstGeom>
          <a:solidFill>
            <a:srgbClr val="8B0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9391E1-87EF-41DF-8840-96A673C8DF4E}"/>
              </a:ext>
            </a:extLst>
          </p:cNvPr>
          <p:cNvSpPr txBox="1"/>
          <p:nvPr/>
        </p:nvSpPr>
        <p:spPr>
          <a:xfrm>
            <a:off x="6931311" y="451789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008B"/>
                </a:solidFill>
              </a:rPr>
              <a:t>4.  Strict Boundaries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A5AA6A-46B0-45A1-B64A-317C5E8299F6}"/>
              </a:ext>
            </a:extLst>
          </p:cNvPr>
          <p:cNvSpPr txBox="1"/>
          <p:nvPr/>
        </p:nvSpPr>
        <p:spPr>
          <a:xfrm>
            <a:off x="6931311" y="4828794"/>
            <a:ext cx="5106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Extensions use plugin-</a:t>
            </a:r>
            <a:r>
              <a:rPr sz="1000" b="0" i="0" dirty="0" err="1">
                <a:solidFill>
                  <a:srgbClr val="333333"/>
                </a:solidFill>
              </a:rPr>
              <a:t>sdk</a:t>
            </a:r>
            <a:r>
              <a:rPr sz="1000" b="0" i="0" dirty="0">
                <a:solidFill>
                  <a:srgbClr val="333333"/>
                </a:solidFill>
              </a:rPr>
              <a:t> only. No deep imports across layers. CI enforced.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D2DAB9-E649-4B2E-AD2C-36F7FD3B0B47}"/>
              </a:ext>
            </a:extLst>
          </p:cNvPr>
          <p:cNvSpPr/>
          <p:nvPr/>
        </p:nvSpPr>
        <p:spPr>
          <a:xfrm>
            <a:off x="6748431" y="5441442"/>
            <a:ext cx="73152" cy="6858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00C207-303A-45D1-81E0-E18DE157E2C5}"/>
              </a:ext>
            </a:extLst>
          </p:cNvPr>
          <p:cNvSpPr txBox="1"/>
          <p:nvPr/>
        </p:nvSpPr>
        <p:spPr>
          <a:xfrm>
            <a:off x="6931311" y="547801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204E"/>
                </a:solidFill>
              </a:rPr>
              <a:t>5.  Security-First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B0222F-110F-4878-BE4E-BB17617F1DDE}"/>
              </a:ext>
            </a:extLst>
          </p:cNvPr>
          <p:cNvSpPr txBox="1"/>
          <p:nvPr/>
        </p:nvSpPr>
        <p:spPr>
          <a:xfrm>
            <a:off x="6931311" y="5788914"/>
            <a:ext cx="5106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33333"/>
                </a:solidFill>
              </a:rPr>
              <a:t>Safe defaults everywhere. DM pairing. Sandboxing. Clear knobs for trusted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How messages move through the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📥  Inbound Message Flow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1204E"/>
                </a:solidFill>
              </a:rPr>
              <a:t>Channel (WhatsApp / Telegram)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Channel Plugin  (adapter)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Routing Engine  (session key)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Agent  (context + prompt)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AI Provider  (inference)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Tool Execution  (if needed)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Response stream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Channel Plugin  (delivery)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70432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⌨️  Operator Command Flow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1204E"/>
                </a:solidFill>
              </a:rPr>
              <a:t>CLI / Companion App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WebSocket connect + auth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RPC Request  (method + params)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Gateway handler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Action  (send / agent / status)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Response / stream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E65100"/>
                </a:solidFill>
              </a:rPr>
              <a:t>→  CLI / App renders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88720"/>
            <a:ext cx="36576" cy="521208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3.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Root layout · src/ · extensions/ · apps/ · docs/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Root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Top-level directories and their 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4410" y="1197864"/>
            <a:ext cx="4719473" cy="5413248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0" y="1165621"/>
            <a:ext cx="4765193" cy="5527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lang="en-US" sz="900" b="0" i="0" u="none" strike="noStrike" dirty="0" err="1">
                <a:effectLst/>
                <a:latin typeface="-apple-system"/>
              </a:rPr>
              <a:t>openclaw</a:t>
            </a:r>
            <a:r>
              <a:rPr lang="en-US" sz="900" b="0" i="0" u="none" strike="noStrike" dirty="0">
                <a:effectLst/>
                <a:latin typeface="-apple-system"/>
              </a:rPr>
              <a:t>/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</a:t>
            </a:r>
            <a:r>
              <a:rPr lang="en-US" sz="900" b="0" i="0" u="none" strike="noStrike" dirty="0" err="1">
                <a:effectLst/>
                <a:latin typeface="-apple-system"/>
              </a:rPr>
              <a:t>src</a:t>
            </a:r>
            <a:r>
              <a:rPr lang="en-US" sz="900" b="0" i="0" u="none" strike="noStrike" dirty="0">
                <a:effectLst/>
                <a:latin typeface="-apple-system"/>
              </a:rPr>
              <a:t>/ 					# Core TypeScript codebase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	├── agents/ 			# Agent runtime, tools, inference loop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channels/ 			# Channel core abstractions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cli/ 				# CLI commands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config/ 			# Configuration system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gateway/ 			# WebSocket gateway server &amp; protocol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plugin-</a:t>
            </a:r>
            <a:r>
              <a:rPr lang="en-US" sz="900" b="0" i="0" u="none" strike="noStrike" dirty="0" err="1">
                <a:solidFill>
                  <a:srgbClr val="24292E"/>
                </a:solidFill>
                <a:effectLst/>
                <a:latin typeface="-apple-system"/>
              </a:rPr>
              <a:t>sdk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/ 			# Public plugin SDK (third-party contract)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plugins/ 			# Plugin loader, registry, contracts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infra/ 			# Infrastructure (auth, network, storage)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├── sessions/ 			# Session management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solidFill>
                  <a:srgbClr val="24292E"/>
                </a:solidFill>
                <a:latin typeface="-apple-system"/>
              </a:rPr>
              <a:t>	</a:t>
            </a:r>
            <a:r>
              <a:rPr lang="en-US" sz="900" b="0" i="0" u="none" strike="noStrike" dirty="0">
                <a:solidFill>
                  <a:srgbClr val="24292E"/>
                </a:solidFill>
                <a:effectLst/>
                <a:latin typeface="-apple-system"/>
              </a:rPr>
              <a:t>└── [many more...]</a:t>
            </a:r>
            <a:endParaRPr lang="en-US" sz="900" b="0" i="0" u="none" strike="noStrike" dirty="0">
              <a:effectLst/>
              <a:latin typeface="-apple-system"/>
            </a:endParaRP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extensions/ 				# Bundled plugins (100+ plugins)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├── anthropic/ 			# Anthropic provider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├── </a:t>
            </a:r>
            <a:r>
              <a:rPr lang="en-US" sz="900" b="0" i="0" u="none" strike="noStrike" dirty="0" err="1">
                <a:effectLst/>
                <a:latin typeface="-apple-system"/>
              </a:rPr>
              <a:t>openai</a:t>
            </a:r>
            <a:r>
              <a:rPr lang="en-US" sz="900" b="0" i="0" u="none" strike="noStrike" dirty="0">
                <a:effectLst/>
                <a:latin typeface="-apple-system"/>
              </a:rPr>
              <a:t>/ 			# </a:t>
            </a:r>
            <a:r>
              <a:rPr lang="en-US" sz="900" b="0" i="0" u="none" strike="noStrike" dirty="0" err="1">
                <a:effectLst/>
                <a:latin typeface="-apple-system"/>
              </a:rPr>
              <a:t>OpenAI</a:t>
            </a:r>
            <a:r>
              <a:rPr lang="en-US" sz="900" b="0" i="0" u="none" strike="noStrike" dirty="0">
                <a:effectLst/>
                <a:latin typeface="-apple-system"/>
              </a:rPr>
              <a:t> provider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├── telegram/ 			# Telegram channel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├── </a:t>
            </a:r>
            <a:r>
              <a:rPr lang="en-US" sz="900" b="0" i="0" u="none" strike="noStrike" dirty="0" err="1">
                <a:effectLst/>
                <a:latin typeface="-apple-system"/>
              </a:rPr>
              <a:t>whatsapp</a:t>
            </a:r>
            <a:r>
              <a:rPr lang="en-US" sz="900" b="0" i="0" u="none" strike="noStrike" dirty="0">
                <a:effectLst/>
                <a:latin typeface="-apple-system"/>
              </a:rPr>
              <a:t>/ 			# WhatsApp channel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├── discord/ 			# Discord channel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└── [100+ more] 			# Providers, channels, tools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apps/ 				# Platform-specific apps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├── </a:t>
            </a:r>
            <a:r>
              <a:rPr lang="en-US" sz="900" b="0" i="0" u="none" strike="noStrike" dirty="0" err="1">
                <a:effectLst/>
                <a:latin typeface="-apple-system"/>
              </a:rPr>
              <a:t>macos</a:t>
            </a:r>
            <a:r>
              <a:rPr lang="en-US" sz="900" b="0" i="0" u="none" strike="noStrike" dirty="0">
                <a:effectLst/>
                <a:latin typeface="-apple-system"/>
              </a:rPr>
              <a:t>/ 			# macOS menu bar app (Swift/</a:t>
            </a:r>
            <a:r>
              <a:rPr lang="en-US" sz="900" b="0" i="0" u="none" strike="noStrike" dirty="0" err="1">
                <a:effectLst/>
                <a:latin typeface="-apple-system"/>
              </a:rPr>
              <a:t>SwiftUI</a:t>
            </a:r>
            <a:r>
              <a:rPr lang="en-US" sz="900" b="0" i="0" u="none" strike="noStrike" dirty="0">
                <a:effectLst/>
                <a:latin typeface="-apple-system"/>
              </a:rPr>
              <a:t>) │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├── </a:t>
            </a:r>
            <a:r>
              <a:rPr lang="en-US" sz="900" b="0" i="0" u="none" strike="noStrike" dirty="0" err="1">
                <a:effectLst/>
                <a:latin typeface="-apple-system"/>
              </a:rPr>
              <a:t>ios</a:t>
            </a:r>
            <a:r>
              <a:rPr lang="en-US" sz="900" b="0" i="0" u="none" strike="noStrike" dirty="0">
                <a:effectLst/>
                <a:latin typeface="-apple-system"/>
              </a:rPr>
              <a:t>/ 				# iOS app (Swift/</a:t>
            </a:r>
            <a:r>
              <a:rPr lang="en-US" sz="900" b="0" i="0" u="none" strike="noStrike" dirty="0" err="1">
                <a:effectLst/>
                <a:latin typeface="-apple-system"/>
              </a:rPr>
              <a:t>SwiftUI</a:t>
            </a:r>
            <a:r>
              <a:rPr lang="en-US" sz="900" b="0" i="0" u="none" strike="noStrike" dirty="0">
                <a:effectLst/>
                <a:latin typeface="-apple-system"/>
              </a:rPr>
              <a:t>) </a:t>
            </a:r>
          </a:p>
          <a:p>
            <a:pPr>
              <a:spcBef>
                <a:spcPts val="100"/>
              </a:spcBef>
            </a:pPr>
            <a:r>
              <a:rPr lang="en-US" sz="900" dirty="0">
                <a:latin typeface="-apple-system"/>
              </a:rPr>
              <a:t>	</a:t>
            </a:r>
            <a:r>
              <a:rPr lang="en-US" sz="900" b="0" i="0" u="none" strike="noStrike" dirty="0">
                <a:effectLst/>
                <a:latin typeface="-apple-system"/>
              </a:rPr>
              <a:t>│ └── android/ 			# Android app (Kotlin)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docs/ 				# Documentation │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	├── channels/ 			# Channel-specific docs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	├── concepts/ 			# Architecture, sessions, models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	├── cli/ 				# CLI command reference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	├── gateway/ 			# Gateway, protocol, security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	└── plugins/ 			# Plugin development guides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</a:t>
            </a:r>
            <a:r>
              <a:rPr lang="en-US" sz="900" b="0" i="0" u="none" strike="noStrike" dirty="0" err="1">
                <a:effectLst/>
                <a:latin typeface="-apple-system"/>
              </a:rPr>
              <a:t>ui</a:t>
            </a:r>
            <a:r>
              <a:rPr lang="en-US" sz="900" b="0" i="0" u="none" strike="noStrike" dirty="0">
                <a:effectLst/>
                <a:latin typeface="-apple-system"/>
              </a:rPr>
              <a:t>/ 					# Web UI components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packages/ 				# Shared packages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test/ 				# Test infrastructure &amp; helpers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scripts/ 				# Build, release, dev scripts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skills/ 				# Bundled skills (slash commands)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├── AGENTS.md 				# Agent/LLM instructions for contributors </a:t>
            </a:r>
          </a:p>
          <a:p>
            <a:pPr>
              <a:spcBef>
                <a:spcPts val="100"/>
              </a:spcBef>
            </a:pPr>
            <a:r>
              <a:rPr lang="en-US" sz="900" b="0" i="0" u="none" strike="noStrike" dirty="0">
                <a:effectLst/>
                <a:latin typeface="-apple-system"/>
              </a:rPr>
              <a:t>└── CLAUDE.md → AGENTS.md 		# </a:t>
            </a:r>
            <a:r>
              <a:rPr lang="en-US" sz="900" b="0" i="0" u="none" strike="noStrike" dirty="0" err="1">
                <a:effectLst/>
                <a:latin typeface="-apple-system"/>
              </a:rPr>
              <a:t>Symlink</a:t>
            </a:r>
            <a:endParaRPr lang="en-US" sz="900" dirty="0">
              <a:latin typeface="Courier New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00820E-49BC-42FD-8494-2457A7D8B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79211"/>
              </p:ext>
            </p:extLst>
          </p:nvPr>
        </p:nvGraphicFramePr>
        <p:xfrm>
          <a:off x="6941081" y="1417664"/>
          <a:ext cx="4608586" cy="5467768"/>
        </p:xfrm>
        <a:graphic>
          <a:graphicData uri="http://schemas.openxmlformats.org/drawingml/2006/table">
            <a:tbl>
              <a:tblPr/>
              <a:tblGrid>
                <a:gridCol w="2304293">
                  <a:extLst>
                    <a:ext uri="{9D8B030D-6E8A-4147-A177-3AD203B41FA5}">
                      <a16:colId xmlns:a16="http://schemas.microsoft.com/office/drawing/2014/main" val="2223462413"/>
                    </a:ext>
                  </a:extLst>
                </a:gridCol>
                <a:gridCol w="2304293">
                  <a:extLst>
                    <a:ext uri="{9D8B030D-6E8A-4147-A177-3AD203B41FA5}">
                      <a16:colId xmlns:a16="http://schemas.microsoft.com/office/drawing/2014/main" val="1846215948"/>
                    </a:ext>
                  </a:extLst>
                </a:gridCol>
              </a:tblGrid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Directory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1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1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1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1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Purpose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1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1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714438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agents/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1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1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Agent runtime, tools system, inference loop, prompt management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102764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acp/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800">
                          <a:effectLst/>
                        </a:rPr>
                        <a:t>ACP (Agent Context Protocol) implementation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1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2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059888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auto-reply/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6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Auto-reply rules and matching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24620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bootstrap/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801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Application initialization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747489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canvas-host/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Canvas rendering host (HTML/CSS/JS workspace)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919123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channels/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1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Channel core abstractions (not implementations)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1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12184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cli/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1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1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CLI command implementations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601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1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563677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commands/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1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Chat commands (/status, /new, /reset, etc.)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54337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config/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1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Configuration schema, validation, loading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1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780027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context-engine/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Context management for agent prompts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8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34026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 dirty="0" err="1">
                          <a:effectLst/>
                        </a:rPr>
                        <a:t>cron</a:t>
                      </a:r>
                      <a:r>
                        <a:rPr lang="en-US" sz="800" dirty="0">
                          <a:effectLst/>
                        </a:rPr>
                        <a:t>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2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Cron job scheduling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023826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daemon/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Daemon management (launchd/systemd)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842447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flows/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Workflow automation (ClawFlow)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443471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gateway/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WebSocket gateway server, protocol, RPC handlers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983263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hooks/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Hook system (bundled hooks included)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2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544485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infra/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2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Infrastructure (auth, network, storage, outbound)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2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367183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media/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Media handling (images, video, audio)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2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68804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media-understanding/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2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Media analysis capabilities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2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236860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mcp/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2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2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MCP (Model Context Protocol) integration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6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2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533650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memory-host-sdk/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Memory plugin SDK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2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810664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node-host/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Node (device) management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6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875011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pairing/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Device pairing system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6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639833"/>
                  </a:ext>
                </a:extLst>
              </a:tr>
              <a:tr h="203088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plugin-sdk/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6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>
                          <a:effectLst/>
                        </a:rPr>
                        <a:t>Public plugin SDK</a:t>
                      </a:r>
                      <a:r>
                        <a:rPr lang="en-US" sz="800">
                          <a:effectLst/>
                        </a:rPr>
                        <a:t> (the contract for all plugins)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901459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plugins/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E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2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Plugin loader, registry, lifecycle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982927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routing/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Channel/agent routing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759101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secrets/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Secrets management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8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822959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security/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2B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Security policies, sandboxing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797288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sessions/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2D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Session management (conversation state)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2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3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919702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tasks/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3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Task management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00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34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3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841119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tts/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Text-to-speech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7578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tui/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2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Terminal UI components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4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32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0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346793"/>
                  </a:ext>
                </a:extLst>
              </a:tr>
              <a:tr h="116050">
                <a:tc>
                  <a:txBody>
                    <a:bodyPr/>
                    <a:lstStyle/>
                    <a:p>
                      <a:r>
                        <a:rPr lang="en-US" sz="800">
                          <a:effectLst/>
                        </a:rPr>
                        <a:t>wizard/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C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effectLst/>
                        </a:rPr>
                        <a:t>Onboarding wizard</a:t>
                      </a:r>
                    </a:p>
                  </a:txBody>
                  <a:tcPr marL="29013" marR="29013" marT="14506" marB="14506" anchor="ctr">
                    <a:lnL w="6350" cap="flat" cmpd="sng" algn="ctr">
                      <a:solidFill>
                        <a:srgbClr val="A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38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0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3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53337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E69D756-03D0-44C0-91E6-CE54F101C5D8}"/>
              </a:ext>
            </a:extLst>
          </p:cNvPr>
          <p:cNvSpPr txBox="1"/>
          <p:nvPr/>
        </p:nvSpPr>
        <p:spPr>
          <a:xfrm>
            <a:off x="6397311" y="1048867"/>
            <a:ext cx="5657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lang="en-US" sz="1800" b="0" i="0" u="none" strike="noStrike" dirty="0">
                <a:effectLst/>
                <a:latin typeface="-apple-system"/>
              </a:rPr>
              <a:t>├── </a:t>
            </a:r>
            <a:r>
              <a:rPr lang="en-US" sz="1800" b="0" i="0" u="none" strike="noStrike" dirty="0" err="1">
                <a:effectLst/>
                <a:latin typeface="-apple-system"/>
              </a:rPr>
              <a:t>src</a:t>
            </a:r>
            <a:r>
              <a:rPr lang="en-US" sz="1800" b="0" i="0" u="none" strike="noStrike" dirty="0">
                <a:effectLst/>
                <a:latin typeface="-apple-system"/>
              </a:rPr>
              <a:t>/core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4. 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Gateway · Agent Runtime · Plugin System · Channels · Config ·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1: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36365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 err="1"/>
              <a:t>src</a:t>
            </a:r>
            <a:r>
              <a:rPr sz="1300" b="1" i="1" dirty="0"/>
              <a:t>/gateway/ — The heart of </a:t>
            </a:r>
            <a:r>
              <a:rPr sz="1300" b="1" i="1" dirty="0" err="1"/>
              <a:t>OpenClaw</a:t>
            </a:r>
            <a:endParaRPr sz="1300" b="1" i="1" dirty="0"/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500" b="1" i="0" dirty="0">
                <a:solidFill>
                  <a:srgbClr val="11204E"/>
                </a:solidFill>
              </a:rPr>
              <a:t>The Gateway is the single long-lived daemon that owns everything: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  ▸  Manages all messaging channel connections (keeps them alive)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  ▸  Exposes WebSocket RPC API — typed, schema-validated, versioned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  ▸  Handles authentication, device pairing, and authorization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  ▸  Routes inbound messages to appropriate agents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  ▸  Manages provider connections and failover</a:t>
            </a: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  ▸  Serves HTTP surfaces: Canvas, </a:t>
            </a:r>
            <a:r>
              <a:rPr sz="1400" b="0" i="0" dirty="0" err="1">
                <a:solidFill>
                  <a:srgbClr val="333333"/>
                </a:solidFill>
              </a:rPr>
              <a:t>WebChat</a:t>
            </a:r>
            <a:r>
              <a:rPr sz="1400" b="0" i="0" dirty="0">
                <a:solidFill>
                  <a:srgbClr val="333333"/>
                </a:solidFill>
              </a:rPr>
              <a:t>, </a:t>
            </a:r>
            <a:r>
              <a:rPr sz="1400" b="0" i="0" dirty="0" err="1">
                <a:solidFill>
                  <a:srgbClr val="333333"/>
                </a:solidFill>
              </a:rPr>
              <a:t>OpenAI-compat</a:t>
            </a:r>
            <a:r>
              <a:rPr sz="1400" b="0" i="0" dirty="0">
                <a:solidFill>
                  <a:srgbClr val="333333"/>
                </a:solidFill>
              </a:rPr>
              <a:t>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983480"/>
            <a:ext cx="11521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300" b="1" i="0">
                <a:solidFill>
                  <a:srgbClr val="E65100"/>
                </a:solidFill>
              </a:rPr>
              <a:t>Key files: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A56BD"/>
                </a:solidFill>
              </a:rPr>
              <a:t>  src/gateway/server.ts  —  WebSocket server + HTTP multiplex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1A56BD"/>
                </a:solidFill>
              </a:rPr>
              <a:t>  src/gateway/protocol/  —  TypeBox schemas (also generates Swift types)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1A56BD"/>
                </a:solidFill>
              </a:rPr>
              <a:t>  src/gateway/server-methods/  —  RPC method handlers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2: Agent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1989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/>
              <a:t>src/agents/ — AI interaction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357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500" b="1" i="0" dirty="0">
                <a:solidFill>
                  <a:srgbClr val="11204E"/>
                </a:solidFill>
              </a:rPr>
              <a:t>The agent system handles all AI reasoning and execution:</a:t>
            </a:r>
          </a:p>
          <a:p>
            <a:pPr algn="l"/>
            <a:endParaRPr sz="1500" b="1" i="0" dirty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0" i="0" dirty="0">
                <a:solidFill>
                  <a:srgbClr val="333333"/>
                </a:solidFill>
              </a:rPr>
              <a:t>Inference loop:  prompt → model → tools → response (repeat until done)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Tool execution framework with 6-layer policy pipeline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Context management, compaction, and prompt-cache optimization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Streaming responses (block chunking for messaging platforms)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Sub-agent spawning with registry + lifecycle management</a:t>
            </a:r>
          </a:p>
          <a:p>
            <a:pPr algn="l">
              <a:spcBef>
                <a:spcPts val="200"/>
              </a:spcBef>
            </a:pPr>
            <a:r>
              <a:rPr sz="1400" b="0" i="0" dirty="0">
                <a:solidFill>
                  <a:srgbClr val="333333"/>
                </a:solidFill>
              </a:rPr>
              <a:t>ACP harness spawn (launch Claude Code / Codex as child agents)</a:t>
            </a:r>
          </a:p>
          <a:p>
            <a:pPr algn="l"/>
            <a:endParaRPr sz="1400" b="0" i="0" dirty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endParaRPr lang="en-US" sz="1400" b="1" i="0" dirty="0">
              <a:solidFill>
                <a:srgbClr val="E65100"/>
              </a:solidFill>
            </a:endParaRPr>
          </a:p>
          <a:p>
            <a:pPr algn="l">
              <a:spcBef>
                <a:spcPts val="400"/>
              </a:spcBef>
            </a:pPr>
            <a:endParaRPr lang="en-US" sz="1400" b="1" dirty="0">
              <a:solidFill>
                <a:srgbClr val="E65100"/>
              </a:solidFill>
            </a:endParaRPr>
          </a:p>
          <a:p>
            <a:pPr algn="l">
              <a:spcBef>
                <a:spcPts val="400"/>
              </a:spcBef>
            </a:pPr>
            <a:endParaRPr lang="en-US" sz="1400" b="1" i="0" dirty="0">
              <a:solidFill>
                <a:srgbClr val="E65100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 dirty="0">
                <a:solidFill>
                  <a:srgbClr val="E65100"/>
                </a:solidFill>
              </a:rPr>
              <a:t>Key concepts: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572000"/>
            <a:ext cx="11521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Agent:  Isolated workspace with its own config, sessions, tool policy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Session:  Conversation thread with message history + JSONL transcript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Tool:  Executable capability registered by the harness (bash, browser, canvas …)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3: Plugin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95117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 err="1"/>
              <a:t>src</a:t>
            </a:r>
            <a:r>
              <a:rPr sz="1300" b="1" i="1" dirty="0"/>
              <a:t>/plugins/ · </a:t>
            </a:r>
            <a:r>
              <a:rPr sz="1300" b="1" i="1" dirty="0" err="1"/>
              <a:t>src</a:t>
            </a:r>
            <a:r>
              <a:rPr sz="1300" b="1" i="1" dirty="0"/>
              <a:t>/plugin-</a:t>
            </a:r>
            <a:r>
              <a:rPr sz="1300" b="1" i="1" dirty="0" err="1"/>
              <a:t>sdk</a:t>
            </a:r>
            <a:r>
              <a:rPr sz="1300" b="1" i="1" dirty="0"/>
              <a:t>/ · extensions/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Three layers: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Plugin SDK  (src/plugin-sdk/)   →  Public contract. Third-party plugins use only this.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333333"/>
                </a:solidFill>
              </a:rPr>
              <a:t>  Plugin Core  (src/plugins/)     →  Loader, registry, lifecycle. Internal.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333333"/>
                </a:solidFill>
              </a:rPr>
              <a:t>  Bundled Plugins  (extensions/)  →  100+ built-in plugins that ship with OpenClaw.</a:t>
            </a:r>
          </a:p>
          <a:p>
            <a:pPr algn="l"/>
            <a:endParaRPr sz="1400" b="0" i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E65100"/>
                </a:solidFill>
              </a:rPr>
              <a:t>Plugin Types: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Channel Plugins    — Messaging platform adapters (Telegram, Discord, WhatsApp …)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333333"/>
                </a:solidFill>
              </a:rPr>
              <a:t>  Provider Plugins   — AI model providers (Anthropic, OpenAI, Gemini, 50+ more)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333333"/>
                </a:solidFill>
              </a:rPr>
              <a:t>  Tool Plugins       — Extra capabilities (browser, webhooks, memory …)</a:t>
            </a:r>
          </a:p>
          <a:p>
            <a:pPr algn="l"/>
            <a:endParaRPr sz="1400" b="0" i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CC0000"/>
                </a:solidFill>
              </a:rPr>
              <a:t>Critical boundary rule  ⚠️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Plugins import ONLY from  openclaw/plugin-sdk/*  and their own local barrels.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333333"/>
                </a:solidFill>
              </a:rPr>
              <a:t>  NO imports from  src/**  or other extensions  src/**. CI enforces this.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 4: Channel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08865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 err="1"/>
              <a:t>src</a:t>
            </a:r>
            <a:r>
              <a:rPr sz="1300" b="1" i="1" dirty="0"/>
              <a:t>/channels/ (core) + </a:t>
            </a:r>
            <a:endParaRPr lang="en-US" sz="1300" b="1" i="1" dirty="0"/>
          </a:p>
          <a:p>
            <a:pPr algn="l"/>
            <a:r>
              <a:rPr sz="1300" b="1" i="1" dirty="0"/>
              <a:t>extensions/*/ (implementations)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93565"/>
            <a:ext cx="11521440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400" b="1" i="0" dirty="0">
                <a:solidFill>
                  <a:srgbClr val="11204E"/>
                </a:solidFill>
              </a:rPr>
              <a:t>Channels are adapters between messaging platforms and the agent:</a:t>
            </a:r>
          </a:p>
          <a:p>
            <a:pPr algn="l">
              <a:spcBef>
                <a:spcPts val="300"/>
              </a:spcBef>
            </a:pPr>
            <a:r>
              <a:rPr sz="1300" b="0" i="0" dirty="0">
                <a:solidFill>
                  <a:srgbClr val="333333"/>
                </a:solidFill>
              </a:rPr>
              <a:t>  ▸  Each platform is an isolated plugin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Unified internal message format across all channels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Presence, typing indicators, reactions, threads, attachments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DM policies: pairing / open / </a:t>
            </a:r>
            <a:r>
              <a:rPr sz="1300" b="0" i="0" dirty="0" err="1">
                <a:solidFill>
                  <a:srgbClr val="333333"/>
                </a:solidFill>
              </a:rPr>
              <a:t>allowlist</a:t>
            </a:r>
            <a:endParaRPr sz="1300" b="0" i="0" dirty="0">
              <a:solidFill>
                <a:srgbClr val="333333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Session routing: per-peer, per-channel-peer, per-account</a:t>
            </a:r>
          </a:p>
          <a:p>
            <a:pPr algn="l"/>
            <a:endParaRPr sz="1300" b="0" i="0" dirty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endParaRPr lang="en-US" sz="1400" b="1" i="0" dirty="0">
              <a:solidFill>
                <a:srgbClr val="E65100"/>
              </a:solidFill>
            </a:endParaRPr>
          </a:p>
          <a:p>
            <a:pPr algn="l">
              <a:spcBef>
                <a:spcPts val="400"/>
              </a:spcBef>
            </a:pPr>
            <a:endParaRPr lang="en-US" sz="1400" b="1" dirty="0">
              <a:solidFill>
                <a:srgbClr val="E65100"/>
              </a:solidFill>
            </a:endParaRPr>
          </a:p>
          <a:p>
            <a:pPr algn="l">
              <a:spcBef>
                <a:spcPts val="400"/>
              </a:spcBef>
            </a:pPr>
            <a:endParaRPr lang="en-US" sz="1400" b="1" i="0" dirty="0">
              <a:solidFill>
                <a:srgbClr val="E65100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 dirty="0">
                <a:solidFill>
                  <a:srgbClr val="E65100"/>
                </a:solidFill>
              </a:rPr>
              <a:t>Supported Channels (25+):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52628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81888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Telegram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111496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Slack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404104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Discord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696712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Google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98932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8192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iMessage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74536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BlueBubbles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452628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IRC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481888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Microsoft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5111496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5404104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Feishu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5696712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598932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Mattermost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628192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Nextcloud Talk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6574536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Nostr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52628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Synology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1888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Tlon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111496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Twitch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404104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Zalo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696712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WeChat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598932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QQ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6281928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WebChat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6574536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• + more…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Components 5 &amp; 6: Configuration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15742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 dirty="0" err="1"/>
              <a:t>src</a:t>
            </a:r>
            <a:r>
              <a:rPr sz="1300" b="1" i="1" dirty="0"/>
              <a:t>/config/</a:t>
            </a:r>
            <a:r>
              <a:rPr lang="en-US" sz="1300" b="1" i="1" dirty="0"/>
              <a:t>												</a:t>
            </a:r>
            <a:r>
              <a:rPr sz="1300" b="1" i="1" dirty="0" err="1"/>
              <a:t>src</a:t>
            </a:r>
            <a:r>
              <a:rPr sz="1300" b="1" i="1" dirty="0"/>
              <a:t>/security/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56692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500" b="1" i="0" dirty="0">
                <a:solidFill>
                  <a:srgbClr val="11204E"/>
                </a:solidFill>
              </a:rPr>
              <a:t>⚙️  Configuration System</a:t>
            </a:r>
          </a:p>
          <a:p>
            <a:pPr algn="l"/>
            <a:endParaRPr sz="1500" b="1" i="0" dirty="0">
              <a:solidFill>
                <a:srgbClr val="11204E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Schema-based validation (</a:t>
            </a:r>
            <a:r>
              <a:rPr sz="1300" b="0" i="0" dirty="0" err="1">
                <a:solidFill>
                  <a:srgbClr val="333333"/>
                </a:solidFill>
              </a:rPr>
              <a:t>TypeBox</a:t>
            </a:r>
            <a:r>
              <a:rPr sz="1300" b="0" i="0" dirty="0">
                <a:solidFill>
                  <a:srgbClr val="333333"/>
                </a:solidFill>
              </a:rPr>
              <a:t>/Zod)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User config:  ~/.</a:t>
            </a:r>
            <a:r>
              <a:rPr sz="1300" b="0" i="0" dirty="0" err="1">
                <a:solidFill>
                  <a:srgbClr val="333333"/>
                </a:solidFill>
              </a:rPr>
              <a:t>openclaw</a:t>
            </a:r>
            <a:r>
              <a:rPr sz="1300" b="0" i="0" dirty="0">
                <a:solidFill>
                  <a:srgbClr val="333333"/>
                </a:solidFill>
              </a:rPr>
              <a:t>/</a:t>
            </a:r>
            <a:r>
              <a:rPr sz="1300" b="0" i="0" dirty="0" err="1">
                <a:solidFill>
                  <a:srgbClr val="333333"/>
                </a:solidFill>
              </a:rPr>
              <a:t>config.json</a:t>
            </a:r>
            <a:endParaRPr sz="1300" b="0" i="0" dirty="0">
              <a:solidFill>
                <a:srgbClr val="333333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Workspace config support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Environment variable overrides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Migration system for upgrades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▸  Doctor / repair tools</a:t>
            </a:r>
          </a:p>
          <a:p>
            <a:pPr algn="l"/>
            <a:endParaRPr sz="1300" b="0" i="0" dirty="0">
              <a:solidFill>
                <a:srgbClr val="333333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 i="0" dirty="0">
                <a:solidFill>
                  <a:srgbClr val="E65100"/>
                </a:solidFill>
              </a:rPr>
              <a:t>Configuration areas:</a:t>
            </a:r>
          </a:p>
          <a:p>
            <a:pPr algn="l">
              <a:spcBef>
                <a:spcPts val="200"/>
              </a:spcBef>
            </a:pPr>
            <a:r>
              <a:rPr sz="1200" b="0" i="0" dirty="0">
                <a:solidFill>
                  <a:srgbClr val="333333"/>
                </a:solidFill>
              </a:rPr>
              <a:t>    • Gateway (port, auth, TLS)</a:t>
            </a:r>
          </a:p>
          <a:p>
            <a:pPr algn="l">
              <a:spcBef>
                <a:spcPts val="200"/>
              </a:spcBef>
            </a:pPr>
            <a:r>
              <a:rPr sz="1200" b="0" i="0" dirty="0">
                <a:solidFill>
                  <a:srgbClr val="333333"/>
                </a:solidFill>
              </a:rPr>
              <a:t>    • Channel configs (credentials, policies)</a:t>
            </a:r>
          </a:p>
          <a:p>
            <a:pPr algn="l">
              <a:spcBef>
                <a:spcPts val="200"/>
              </a:spcBef>
            </a:pPr>
            <a:r>
              <a:rPr sz="1200" b="0" i="0" dirty="0">
                <a:solidFill>
                  <a:srgbClr val="333333"/>
                </a:solidFill>
              </a:rPr>
              <a:t>    • Agent configs (models, tools, prompts)</a:t>
            </a:r>
          </a:p>
          <a:p>
            <a:pPr algn="l">
              <a:spcBef>
                <a:spcPts val="200"/>
              </a:spcBef>
            </a:pPr>
            <a:r>
              <a:rPr sz="1200" b="0" i="0" dirty="0">
                <a:solidFill>
                  <a:srgbClr val="333333"/>
                </a:solidFill>
              </a:rPr>
              <a:t>    • Security (sandboxing, DM policies)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36576" cy="521208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170432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🔐  Security &amp; Sandboxing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  ▸  DM Pairing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      Unknown senders get a code; operator approves out-of-band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  ▸  Sandboxing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      Docker / SSH / OpenShell backends for untrusted sessions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  ▸  Tool Policies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      6-layer allow/deny pipeline: global → provider → per-agent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  ▸  Gateway Auth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      Token / password / Tailscale / trusted-proxy modes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  ▸  Device Pairing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      Challenge + nonce; v3 signature binds platform+deviceFamily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5. Development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Prerequisites · Initial setup · Key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30546" y="5312114"/>
            <a:ext cx="5398535" cy="11096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Prerequisites &amp; Initial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Prerequisites: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Node.js  24 (recommended) or 22.16+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pnpm  (required package manager)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macOS:  Xcode  (for iOS/macOS apps)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Android:  Android Studio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Linux:  systemd  (for daemon)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1882" y="3356741"/>
            <a:ext cx="4936210" cy="2743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9042" y="3448181"/>
            <a:ext cx="4751102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 dirty="0">
                <a:solidFill>
                  <a:srgbClr val="1A56BD"/>
                </a:solidFill>
                <a:latin typeface="Courier New"/>
              </a:rPr>
              <a:t># Clone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1A56BD"/>
                </a:solidFill>
                <a:latin typeface="Courier New"/>
              </a:rPr>
              <a:t>git clone https://github.com/openclaw/openclaw.git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1A56BD"/>
                </a:solidFill>
                <a:latin typeface="Courier New"/>
              </a:rPr>
              <a:t>cd </a:t>
            </a:r>
            <a:r>
              <a:rPr sz="1000" dirty="0" err="1">
                <a:solidFill>
                  <a:srgbClr val="1A56BD"/>
                </a:solidFill>
                <a:latin typeface="Courier New"/>
              </a:rPr>
              <a:t>openclaw</a:t>
            </a:r>
            <a:endParaRPr sz="1000" dirty="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endParaRPr sz="1000" dirty="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1A56BD"/>
                </a:solidFill>
                <a:latin typeface="Courier New"/>
              </a:rPr>
              <a:t># Install dependencies</a:t>
            </a:r>
          </a:p>
          <a:p>
            <a:pPr>
              <a:spcBef>
                <a:spcPts val="100"/>
              </a:spcBef>
            </a:pPr>
            <a:r>
              <a:rPr sz="1000" dirty="0" err="1">
                <a:solidFill>
                  <a:srgbClr val="1A56BD"/>
                </a:solidFill>
                <a:latin typeface="Courier New"/>
              </a:rPr>
              <a:t>pnpm</a:t>
            </a:r>
            <a:r>
              <a:rPr sz="1000" dirty="0">
                <a:solidFill>
                  <a:srgbClr val="1A56BD"/>
                </a:solidFill>
                <a:latin typeface="Courier New"/>
              </a:rPr>
              <a:t> install</a:t>
            </a:r>
          </a:p>
          <a:p>
            <a:pPr>
              <a:spcBef>
                <a:spcPts val="100"/>
              </a:spcBef>
            </a:pPr>
            <a:endParaRPr sz="1000" dirty="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1A56BD"/>
                </a:solidFill>
                <a:latin typeface="Courier New"/>
              </a:rPr>
              <a:t># Build</a:t>
            </a:r>
          </a:p>
          <a:p>
            <a:pPr>
              <a:spcBef>
                <a:spcPts val="100"/>
              </a:spcBef>
            </a:pPr>
            <a:r>
              <a:rPr sz="1000" dirty="0" err="1">
                <a:solidFill>
                  <a:srgbClr val="1A56BD"/>
                </a:solidFill>
                <a:latin typeface="Courier New"/>
              </a:rPr>
              <a:t>pnpm</a:t>
            </a:r>
            <a:r>
              <a:rPr sz="1000" dirty="0">
                <a:solidFill>
                  <a:srgbClr val="1A56BD"/>
                </a:solidFill>
                <a:latin typeface="Courier New"/>
              </a:rPr>
              <a:t> build</a:t>
            </a:r>
          </a:p>
          <a:p>
            <a:pPr>
              <a:spcBef>
                <a:spcPts val="100"/>
              </a:spcBef>
            </a:pPr>
            <a:endParaRPr sz="1000" dirty="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1A56BD"/>
                </a:solidFill>
                <a:latin typeface="Courier New"/>
              </a:rPr>
              <a:t># Dev mode (hot reload)</a:t>
            </a:r>
          </a:p>
          <a:p>
            <a:pPr>
              <a:spcBef>
                <a:spcPts val="100"/>
              </a:spcBef>
            </a:pPr>
            <a:r>
              <a:rPr sz="1000" dirty="0" err="1">
                <a:solidFill>
                  <a:srgbClr val="1A56BD"/>
                </a:solidFill>
                <a:latin typeface="Courier New"/>
              </a:rPr>
              <a:t>pnpm</a:t>
            </a:r>
            <a:r>
              <a:rPr sz="1000" dirty="0">
                <a:solidFill>
                  <a:srgbClr val="1A56BD"/>
                </a:solidFill>
                <a:latin typeface="Courier New"/>
              </a:rPr>
              <a:t> dev</a:t>
            </a:r>
          </a:p>
          <a:p>
            <a:pPr>
              <a:spcBef>
                <a:spcPts val="100"/>
              </a:spcBef>
            </a:pPr>
            <a:endParaRPr sz="1000" dirty="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1A56BD"/>
                </a:solidFill>
                <a:latin typeface="Courier New"/>
              </a:rPr>
              <a:t># Use the CLI</a:t>
            </a:r>
          </a:p>
          <a:p>
            <a:pPr>
              <a:spcBef>
                <a:spcPts val="100"/>
              </a:spcBef>
            </a:pPr>
            <a:r>
              <a:rPr sz="1000" dirty="0" err="1">
                <a:solidFill>
                  <a:srgbClr val="1A56BD"/>
                </a:solidFill>
                <a:latin typeface="Courier New"/>
              </a:rPr>
              <a:t>pnpm</a:t>
            </a:r>
            <a:r>
              <a:rPr sz="1000" dirty="0">
                <a:solidFill>
                  <a:srgbClr val="1A56BD"/>
                </a:solidFill>
                <a:latin typeface="Courier New"/>
              </a:rPr>
              <a:t> </a:t>
            </a:r>
            <a:r>
              <a:rPr sz="1000" dirty="0" err="1">
                <a:solidFill>
                  <a:srgbClr val="1A56BD"/>
                </a:solidFill>
                <a:latin typeface="Courier New"/>
              </a:rPr>
              <a:t>openclaw</a:t>
            </a:r>
            <a:r>
              <a:rPr sz="1000" dirty="0">
                <a:solidFill>
                  <a:srgbClr val="1A56BD"/>
                </a:solidFill>
                <a:latin typeface="Courier New"/>
              </a:rPr>
              <a:t> --help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114F31-7156-45C0-A87D-02B99E3F0A80}"/>
              </a:ext>
            </a:extLst>
          </p:cNvPr>
          <p:cNvSpPr txBox="1"/>
          <p:nvPr/>
        </p:nvSpPr>
        <p:spPr>
          <a:xfrm>
            <a:off x="8257788" y="1021298"/>
            <a:ext cx="3316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Commands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335764A-46DE-4ABA-971B-DADE55DB3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500302"/>
              </p:ext>
            </p:extLst>
          </p:nvPr>
        </p:nvGraphicFramePr>
        <p:xfrm>
          <a:off x="6875188" y="1481714"/>
          <a:ext cx="4993597" cy="3157453"/>
        </p:xfrm>
        <a:graphic>
          <a:graphicData uri="http://schemas.openxmlformats.org/drawingml/2006/table">
            <a:tbl>
              <a:tblPr/>
              <a:tblGrid>
                <a:gridCol w="2429146">
                  <a:extLst>
                    <a:ext uri="{9D8B030D-6E8A-4147-A177-3AD203B41FA5}">
                      <a16:colId xmlns:a16="http://schemas.microsoft.com/office/drawing/2014/main" val="167798468"/>
                    </a:ext>
                  </a:extLst>
                </a:gridCol>
                <a:gridCol w="2564451">
                  <a:extLst>
                    <a:ext uri="{9D8B030D-6E8A-4147-A177-3AD203B41FA5}">
                      <a16:colId xmlns:a16="http://schemas.microsoft.com/office/drawing/2014/main" val="3502643026"/>
                    </a:ext>
                  </a:extLst>
                </a:gridCol>
              </a:tblGrid>
              <a:tr h="195454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Command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70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2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Description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F02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2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3476602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pnpm</a:t>
                      </a:r>
                      <a:r>
                        <a:rPr lang="en-US" sz="1000" dirty="0">
                          <a:effectLst/>
                        </a:rPr>
                        <a:t> install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3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Install dependencies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7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2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29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183486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pnpm</a:t>
                      </a:r>
                      <a:r>
                        <a:rPr lang="en-US" sz="1000" dirty="0">
                          <a:effectLst/>
                        </a:rPr>
                        <a:t> build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3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2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Build all packages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F02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837083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pnpm</a:t>
                      </a:r>
                      <a:r>
                        <a:rPr lang="en-US" sz="1000" dirty="0">
                          <a:effectLst/>
                        </a:rPr>
                        <a:t> dev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7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Run CLI in dev mode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5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2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799433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pnpm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openclaw</a:t>
                      </a:r>
                      <a:r>
                        <a:rPr lang="en-US" sz="1000" dirty="0">
                          <a:effectLst/>
                        </a:rPr>
                        <a:t> &lt;</a:t>
                      </a:r>
                      <a:r>
                        <a:rPr lang="en-US" sz="1000" dirty="0" err="1">
                          <a:effectLst/>
                        </a:rPr>
                        <a:t>cmd</a:t>
                      </a:r>
                      <a:r>
                        <a:rPr lang="en-US" sz="1000" dirty="0">
                          <a:effectLst/>
                        </a:rPr>
                        <a:t>&gt;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F02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Run CLI commands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10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620059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pnpm</a:t>
                      </a:r>
                      <a:r>
                        <a:rPr lang="en-US" sz="1000" dirty="0">
                          <a:effectLst/>
                        </a:rPr>
                        <a:t> check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5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Full type/lint check (no tests)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3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2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631051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pnpm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check:changed</a:t>
                      </a:r>
                      <a:endParaRPr lang="en-US" sz="1000" dirty="0">
                        <a:effectLst/>
                      </a:endParaRP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F02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Smart gate: only check changed code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F02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25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534703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pnpm test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3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Run all tests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B02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2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000902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pnpm test:changed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102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Run tests for changed code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70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2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531727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pnpm lint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70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Lint code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1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2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2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234131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pnpm format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D02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02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Format code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F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2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2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2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47055"/>
                  </a:ext>
                </a:extLst>
              </a:tr>
              <a:tr h="195454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pnpm tsgo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30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02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Fast core </a:t>
                      </a:r>
                      <a:r>
                        <a:rPr lang="en-US" sz="1000" dirty="0" err="1">
                          <a:effectLst/>
                        </a:rPr>
                        <a:t>typecheck</a:t>
                      </a:r>
                      <a:endParaRPr lang="en-US" sz="1000" dirty="0">
                        <a:effectLst/>
                      </a:endParaRP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9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2C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2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427480"/>
                  </a:ext>
                </a:extLst>
              </a:tr>
              <a:tr h="284197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pnpm tsgo:prod</a:t>
                      </a: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F02E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Core + extensions </a:t>
                      </a:r>
                      <a:r>
                        <a:rPr lang="en-US" sz="1000" dirty="0" err="1">
                          <a:effectLst/>
                        </a:rPr>
                        <a:t>typecheck</a:t>
                      </a:r>
                      <a:endParaRPr lang="en-US" sz="1000" dirty="0">
                        <a:effectLst/>
                      </a:endParaRPr>
                    </a:p>
                  </a:txBody>
                  <a:tcPr marL="87038" marR="87038" marT="43519" marB="43519" anchor="ctr">
                    <a:lnL w="6350" cap="flat" cmpd="sng" algn="ctr">
                      <a:solidFill>
                        <a:srgbClr val="503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2D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2B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801953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B62B7CFE-BE7C-4643-B6C9-A6C5D0D9B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0734" y="5175196"/>
            <a:ext cx="5398479" cy="13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3" defTabSz="914400"/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Development Modes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Dev mode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: 	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pnpm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 dev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(hot reload)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Production build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: 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pnpm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 build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→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openclaw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Smart testing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: 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pnpm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test:changed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(only test what changed)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Smart checks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: 	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pnpm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Arial Unicode MS"/>
              </a:rPr>
              <a:t>check:changed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 (pre-commit hook)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6.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Pre-commit hooks · Making changes · Contribution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Pre-Commit Gates &amp; Making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5303520" cy="277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500" b="1" i="0" dirty="0">
                <a:solidFill>
                  <a:srgbClr val="11204E"/>
                </a:solidFill>
              </a:rPr>
              <a:t>Pre-Commit Hook (automated):</a:t>
            </a:r>
          </a:p>
          <a:p>
            <a:pPr algn="l"/>
            <a:endParaRPr sz="1500" b="1" i="0" dirty="0">
              <a:solidFill>
                <a:srgbClr val="11204E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400" dirty="0" err="1"/>
              <a:t>OpenClaw</a:t>
            </a:r>
            <a:r>
              <a:rPr lang="en-US" sz="1400" dirty="0"/>
              <a:t> uses aggressive quality gates:</a:t>
            </a:r>
          </a:p>
          <a:p>
            <a:pPr algn="l">
              <a:spcBef>
                <a:spcPts val="200"/>
              </a:spcBef>
            </a:pPr>
            <a:endParaRPr lang="en-US" sz="1300" b="0" i="0" dirty="0">
              <a:solidFill>
                <a:srgbClr val="333333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1.  Format check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2.  Lint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1A56BD"/>
                </a:solidFill>
              </a:rPr>
              <a:t>  3.  </a:t>
            </a:r>
            <a:r>
              <a:rPr sz="1300" b="0" i="0" dirty="0" err="1">
                <a:solidFill>
                  <a:srgbClr val="1A56BD"/>
                </a:solidFill>
              </a:rPr>
              <a:t>pnpm</a:t>
            </a:r>
            <a:r>
              <a:rPr sz="1300" b="0" i="0" dirty="0">
                <a:solidFill>
                  <a:srgbClr val="1A56BD"/>
                </a:solidFill>
              </a:rPr>
              <a:t> </a:t>
            </a:r>
            <a:r>
              <a:rPr sz="1300" b="0" i="0" dirty="0" err="1">
                <a:solidFill>
                  <a:srgbClr val="1A56BD"/>
                </a:solidFill>
              </a:rPr>
              <a:t>check:changed</a:t>
            </a:r>
            <a:r>
              <a:rPr sz="1300" b="0" i="0" dirty="0">
                <a:solidFill>
                  <a:srgbClr val="1A56BD"/>
                </a:solidFill>
              </a:rPr>
              <a:t> --staged</a:t>
            </a:r>
          </a:p>
          <a:p>
            <a:pPr algn="l"/>
            <a:r>
              <a:rPr sz="1200" b="0" i="0" dirty="0">
                <a:solidFill>
                  <a:srgbClr val="777777"/>
                </a:solidFill>
              </a:rPr>
              <a:t>       (smart </a:t>
            </a:r>
            <a:r>
              <a:rPr sz="1200" b="0" i="0" dirty="0" err="1">
                <a:solidFill>
                  <a:srgbClr val="777777"/>
                </a:solidFill>
              </a:rPr>
              <a:t>typecheck</a:t>
            </a:r>
            <a:r>
              <a:rPr sz="1200" b="0" i="0" dirty="0">
                <a:solidFill>
                  <a:srgbClr val="777777"/>
                </a:solidFill>
              </a:rPr>
              <a:t> + tests for staged files)</a:t>
            </a:r>
          </a:p>
          <a:p>
            <a:pPr algn="l">
              <a:spcBef>
                <a:spcPts val="200"/>
              </a:spcBef>
            </a:pPr>
            <a:endParaRPr lang="en-US" sz="1200" b="0" i="1" dirty="0">
              <a:solidFill>
                <a:srgbClr val="777777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 i="1" dirty="0">
                <a:solidFill>
                  <a:srgbClr val="777777"/>
                </a:solidFill>
              </a:rPr>
              <a:t>  ✦  Skipped for docs-only changes</a:t>
            </a:r>
          </a:p>
          <a:p>
            <a:pPr algn="l">
              <a:spcBef>
                <a:spcPts val="100"/>
              </a:spcBef>
            </a:pPr>
            <a:r>
              <a:rPr sz="1200" b="0" i="1" dirty="0">
                <a:solidFill>
                  <a:srgbClr val="777777"/>
                </a:solidFill>
              </a:rPr>
              <a:t>  ✦  Override:  FAST_COMMIT=1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188720"/>
            <a:ext cx="36576" cy="521208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170432"/>
            <a:ext cx="6217920" cy="301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dirty="0"/>
          </a:p>
          <a:p>
            <a:pPr algn="l"/>
            <a:r>
              <a:rPr sz="1500" b="1" i="0" dirty="0">
                <a:solidFill>
                  <a:srgbClr val="11204E"/>
                </a:solidFill>
              </a:rPr>
              <a:t>Making Changes (5-step flow):</a:t>
            </a:r>
          </a:p>
          <a:p>
            <a:pPr algn="l"/>
            <a:endParaRPr sz="1500" b="1" i="0" dirty="0">
              <a:solidFill>
                <a:srgbClr val="11204E"/>
              </a:solidFill>
            </a:endParaRPr>
          </a:p>
          <a:p>
            <a:pPr algn="l">
              <a:spcBef>
                <a:spcPts val="400"/>
              </a:spcBef>
            </a:pPr>
            <a:r>
              <a:rPr sz="1300" b="1" i="0" dirty="0">
                <a:solidFill>
                  <a:srgbClr val="E65100"/>
                </a:solidFill>
              </a:rPr>
              <a:t>  1. Pick an area  </a:t>
            </a:r>
            <a:r>
              <a:rPr sz="1300" b="1" i="0" dirty="0" err="1">
                <a:solidFill>
                  <a:srgbClr val="E65100"/>
                </a:solidFill>
              </a:rPr>
              <a:t>src</a:t>
            </a:r>
            <a:r>
              <a:rPr sz="1300" b="1" i="0" dirty="0">
                <a:solidFill>
                  <a:srgbClr val="E65100"/>
                </a:solidFill>
              </a:rPr>
              <a:t>/ · extensions/&lt;name&gt;/ · docs/ · apps/</a:t>
            </a:r>
          </a:p>
          <a:p>
            <a:pPr algn="l"/>
            <a:r>
              <a:rPr sz="1200" b="0" i="0" dirty="0">
                <a:solidFill>
                  <a:srgbClr val="333333"/>
                </a:solidFill>
              </a:rPr>
              <a:t>       </a:t>
            </a:r>
          </a:p>
          <a:p>
            <a:pPr algn="l">
              <a:spcBef>
                <a:spcPts val="400"/>
              </a:spcBef>
            </a:pPr>
            <a:r>
              <a:rPr sz="1300" b="1" i="0" dirty="0">
                <a:solidFill>
                  <a:srgbClr val="E65100"/>
                </a:solidFill>
              </a:rPr>
              <a:t>  2. Read AGENTS.md  Root + scoped guide for your area</a:t>
            </a:r>
          </a:p>
          <a:p>
            <a:pPr algn="l"/>
            <a:r>
              <a:rPr sz="1200" b="0" i="0" dirty="0">
                <a:solidFill>
                  <a:srgbClr val="333333"/>
                </a:solidFill>
              </a:rPr>
              <a:t>       </a:t>
            </a:r>
          </a:p>
          <a:p>
            <a:pPr algn="l">
              <a:spcBef>
                <a:spcPts val="400"/>
              </a:spcBef>
            </a:pPr>
            <a:r>
              <a:rPr sz="1300" b="1" i="0" dirty="0">
                <a:solidFill>
                  <a:srgbClr val="E65100"/>
                </a:solidFill>
              </a:rPr>
              <a:t>  3. Write your code  </a:t>
            </a:r>
            <a:r>
              <a:rPr lang="en-US" sz="1300" b="1" i="0" dirty="0">
                <a:solidFill>
                  <a:srgbClr val="E65100"/>
                </a:solidFill>
              </a:rPr>
              <a:t>Follow </a:t>
            </a:r>
            <a:r>
              <a:rPr sz="1300" b="1" i="0" dirty="0">
                <a:solidFill>
                  <a:srgbClr val="E65100"/>
                </a:solidFill>
              </a:rPr>
              <a:t>Strict types </a:t>
            </a:r>
            <a:r>
              <a:rPr lang="en-US" sz="1300" b="1" dirty="0">
                <a:solidFill>
                  <a:srgbClr val="E65100"/>
                </a:solidFill>
              </a:rPr>
              <a:t>(</a:t>
            </a:r>
            <a:r>
              <a:rPr sz="1300" b="1" i="0" dirty="0">
                <a:solidFill>
                  <a:srgbClr val="E65100"/>
                </a:solidFill>
              </a:rPr>
              <a:t>no any</a:t>
            </a:r>
            <a:r>
              <a:rPr lang="en-US" sz="1300" b="1" i="0" dirty="0">
                <a:solidFill>
                  <a:srgbClr val="E65100"/>
                </a:solidFill>
              </a:rPr>
              <a:t>)</a:t>
            </a:r>
            <a:r>
              <a:rPr sz="1300" b="1" i="0" dirty="0">
                <a:solidFill>
                  <a:srgbClr val="E65100"/>
                </a:solidFill>
              </a:rPr>
              <a:t> · ~700 LOC max</a:t>
            </a:r>
          </a:p>
          <a:p>
            <a:pPr algn="l"/>
            <a:r>
              <a:rPr sz="1200" b="0" i="0" dirty="0">
                <a:solidFill>
                  <a:srgbClr val="333333"/>
                </a:solidFill>
              </a:rPr>
              <a:t>       </a:t>
            </a:r>
          </a:p>
          <a:p>
            <a:pPr algn="l">
              <a:spcBef>
                <a:spcPts val="400"/>
              </a:spcBef>
            </a:pPr>
            <a:r>
              <a:rPr sz="1300" b="1" i="0" dirty="0">
                <a:solidFill>
                  <a:srgbClr val="E65100"/>
                </a:solidFill>
              </a:rPr>
              <a:t>  4. Test  </a:t>
            </a:r>
            <a:r>
              <a:rPr sz="1300" b="1" i="0" dirty="0" err="1">
                <a:solidFill>
                  <a:srgbClr val="E65100"/>
                </a:solidFill>
              </a:rPr>
              <a:t>pnpm</a:t>
            </a:r>
            <a:r>
              <a:rPr sz="1300" b="1" i="0" dirty="0">
                <a:solidFill>
                  <a:srgbClr val="E65100"/>
                </a:solidFill>
              </a:rPr>
              <a:t> </a:t>
            </a:r>
            <a:r>
              <a:rPr sz="1300" b="1" i="0" dirty="0" err="1">
                <a:solidFill>
                  <a:srgbClr val="E65100"/>
                </a:solidFill>
              </a:rPr>
              <a:t>test:changed</a:t>
            </a:r>
            <a:r>
              <a:rPr sz="1300" b="1" i="0" dirty="0">
                <a:solidFill>
                  <a:srgbClr val="E65100"/>
                </a:solidFill>
              </a:rPr>
              <a:t> </a:t>
            </a:r>
            <a:r>
              <a:rPr lang="en-US" sz="1300" b="1" i="0" dirty="0">
                <a:solidFill>
                  <a:srgbClr val="E65100"/>
                </a:solidFill>
              </a:rPr>
              <a:t>(Test changed code</a:t>
            </a:r>
            <a:r>
              <a:rPr lang="en-US" sz="1300" b="1" u="none" strike="noStrike" dirty="0">
                <a:solidFill>
                  <a:srgbClr val="E65100"/>
                </a:solidFill>
                <a:effectLst/>
                <a:latin typeface="-apple-system"/>
              </a:rPr>
              <a:t>)</a:t>
            </a:r>
            <a:r>
              <a:rPr sz="1300" b="1" i="0" dirty="0">
                <a:solidFill>
                  <a:srgbClr val="E65100"/>
                </a:solidFill>
              </a:rPr>
              <a:t> +  </a:t>
            </a:r>
            <a:r>
              <a:rPr sz="1300" b="1" i="0" dirty="0" err="1">
                <a:solidFill>
                  <a:srgbClr val="E65100"/>
                </a:solidFill>
              </a:rPr>
              <a:t>pnpm</a:t>
            </a:r>
            <a:r>
              <a:rPr sz="1300" b="1" i="0" dirty="0">
                <a:solidFill>
                  <a:srgbClr val="E65100"/>
                </a:solidFill>
              </a:rPr>
              <a:t> </a:t>
            </a:r>
            <a:r>
              <a:rPr sz="1300" b="1" i="0" dirty="0" err="1">
                <a:solidFill>
                  <a:srgbClr val="E65100"/>
                </a:solidFill>
              </a:rPr>
              <a:t>check:changed</a:t>
            </a:r>
            <a:r>
              <a:rPr lang="en-US" sz="1300" b="1" i="0" dirty="0">
                <a:solidFill>
                  <a:srgbClr val="E65100"/>
                </a:solidFill>
              </a:rPr>
              <a:t> (Full gate)</a:t>
            </a:r>
            <a:endParaRPr sz="1300" b="1" i="0" dirty="0">
              <a:solidFill>
                <a:srgbClr val="E65100"/>
              </a:solidFill>
            </a:endParaRPr>
          </a:p>
          <a:p>
            <a:pPr algn="l"/>
            <a:r>
              <a:rPr sz="1200" b="0" i="0" dirty="0">
                <a:solidFill>
                  <a:srgbClr val="333333"/>
                </a:solidFill>
              </a:rPr>
              <a:t>       </a:t>
            </a:r>
          </a:p>
          <a:p>
            <a:pPr algn="l">
              <a:spcBef>
                <a:spcPts val="400"/>
              </a:spcBef>
            </a:pPr>
            <a:r>
              <a:rPr sz="1300" b="1" i="0" dirty="0">
                <a:solidFill>
                  <a:srgbClr val="E65100"/>
                </a:solidFill>
              </a:rPr>
              <a:t>  5. Commit  scripts/committer "feat: …" path/to/</a:t>
            </a:r>
            <a:r>
              <a:rPr sz="1300" b="1" i="0" dirty="0" err="1">
                <a:solidFill>
                  <a:srgbClr val="E65100"/>
                </a:solidFill>
              </a:rPr>
              <a:t>file.ts</a:t>
            </a:r>
            <a:endParaRPr sz="1300" b="1" i="0" dirty="0">
              <a:solidFill>
                <a:srgbClr val="E65100"/>
              </a:solidFill>
            </a:endParaRPr>
          </a:p>
          <a:p>
            <a:pPr algn="l"/>
            <a:r>
              <a:rPr sz="1200" b="0" i="0" dirty="0">
                <a:solidFill>
                  <a:srgbClr val="333333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Contribution Flow &amp; PR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From VISION.md and CONTRIBUTING.md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PR Rules: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▸  One PR = One Issue/Topic  (no bundling unrelated changes)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▸  PRs over ~5,000 lines reviewed only in exceptional circumstances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▸  No large batches of tiny PRs — each PR has review cost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▸  For small related fixes, group into one focused PR</a:t>
            </a:r>
          </a:p>
          <a:p>
            <a:pPr algn="l"/>
            <a:endParaRPr sz="1400" b="0" i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E65100"/>
                </a:solidFill>
              </a:rPr>
              <a:t>Before Landing Checklist: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☐  Run  pnpm check:changed  (or full  pnpm check)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☐  Run tests:  pnpm test  (minimum: pnpm test:changed)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☐  If touching build/packaging:  pnpm build  must pass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☐  Update changelog (user-facing changes only)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☐  Rebase on latest  origin/main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☐  On main: verify touched surface with  pnpm check + pnpm test</a:t>
            </a:r>
          </a:p>
          <a:p>
            <a:pPr algn="l"/>
            <a:endParaRPr sz="1300" b="0" i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1204E"/>
                </a:solidFill>
              </a:rPr>
              <a:t>Commit message format: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Conventional-ish · concise · action-oriented · group related changes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1A56BD"/>
                </a:solidFill>
              </a:rPr>
              <a:t>  Example:  feat(channels): add Matrix thread support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7.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Vitest · Colocated tests · Smart test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Philosophy &amp; Organization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11521440" cy="685800"/>
          </a:xfrm>
          <a:prstGeom prst="rect">
            <a:avLst/>
          </a:prstGeom>
          <a:solidFill>
            <a:srgbClr val="E8F0FF"/>
          </a:solidFill>
          <a:ln w="6350">
            <a:solidFill>
              <a:srgbClr val="112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1204E"/>
                </a:solidFill>
              </a:rPr>
              <a:t>"Keep tests at seam depth: unit-test pure helpers/contracts; one integration smoke per boundary, not per branch."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11521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400" b="1" i="0">
                <a:solidFill>
                  <a:srgbClr val="E65100"/>
                </a:solidFill>
              </a:rPr>
              <a:t>Test organization: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Colocated tests:  *.test.ts  placed next to implementation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▸  E2E tests:  *.e2e.test.ts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▸  Test helpers:  test/helpers/  and  src/test-helpers/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▸  Fixtures:  test-fixtures/</a:t>
            </a:r>
          </a:p>
          <a:p>
            <a:pPr algn="l"/>
            <a:endParaRPr sz="1300" b="0" i="0">
              <a:solidFill>
                <a:srgbClr val="333333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E65100"/>
                </a:solidFill>
              </a:rPr>
              <a:t>Best practices: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Clean up: timers, env vars, globals, mocks, sockets, temp dirs  (--isolate=false safe)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Prefer  beforeAll  imports over per-test  vi.resetModules()  (hot tests)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Mock expensive seams: scanners, network, provider SDKs, filesystem crawls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Share fixtures/builders — do not recreate workspaces in every test case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Delete duplicate assertions — assert only what can regress HERE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Use  *.runtime.ts  seams for lazy boundaries; mock them, not broad barrels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Running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Commands + performance tips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2471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# All tests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pnpm test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# Only tests for changed files (fast feedback loop)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pnpm test:changed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# Specific file or filter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pnpm test src/agents/compaction.test.ts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pnpm test compaction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# All extension shards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pnpm test:extensions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pnpm test extensions/telegram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# Coverage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pnpm test:coverage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# Live tests (requires real API keys)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OPENCLAW_LIVE_TEST=1 pnpm test:live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# Memory-pressure mode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OPENCLAW_VITEST_MAX_WORKERS=1 pnpm test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8. Plugin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Plugin types · Structure · Manifest · Boundary rules ·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Plugin Types &amp; Package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Plugin Types: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 i="0">
                <a:solidFill>
                  <a:srgbClr val="E65100"/>
                </a:solidFill>
              </a:rPr>
              <a:t>  Channel Plugins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Messaging platform adapters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1A56BD"/>
                </a:solidFill>
              </a:rPr>
              <a:t>    extensions/telegram/  extensions/discord/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Interface:  ChannelPlugin  from plugin-sdk</a:t>
            </a:r>
          </a:p>
          <a:p>
            <a:pPr algn="l"/>
            <a:endParaRPr sz="1200" b="0" i="0">
              <a:solidFill>
                <a:srgbClr val="333333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 i="0">
                <a:solidFill>
                  <a:srgbClr val="E65100"/>
                </a:solidFill>
              </a:rPr>
              <a:t>  Provider Plugins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AI model providers (50+ supported)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1A56BD"/>
                </a:solidFill>
              </a:rPr>
              <a:t>    extensions/anthropic/  extensions/openai/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Interface:  ProviderPlugin  from plugin-sdk</a:t>
            </a:r>
          </a:p>
          <a:p>
            <a:pPr algn="l"/>
            <a:endParaRPr sz="1200" b="0" i="0">
              <a:solidFill>
                <a:srgbClr val="333333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 i="0">
                <a:solidFill>
                  <a:srgbClr val="E65100"/>
                </a:solidFill>
              </a:rPr>
              <a:t>  Tool Plugins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Additional capabilities for the agent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1A56BD"/>
                </a:solidFill>
              </a:rPr>
              <a:t>    extensions/browser/  extensions/webhooks/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170432"/>
            <a:ext cx="6217920" cy="3291840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06440" y="1261872"/>
            <a:ext cx="5943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extensions/&lt;plugin-name&gt;/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├── openclaw.plugin.json  ← manifest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├── package.json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├── src/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│   ├── index.ts          ← entry point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│   └── [implementation]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├── api.ts                ← public API barrel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├── runtime-api.ts        ← runtime exports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└── [tests, docs …]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572000"/>
            <a:ext cx="6217920" cy="1965960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4663440"/>
            <a:ext cx="594360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// openclaw.plugin.json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{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"id": "my-channel",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"name": "My Channel",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"version": "1.0.0",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"type": "channel",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"main": "dist/index.js"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Plugin Boundary Rules  ⚠️ 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extensions/AGENTS.md · src/plugin-sdk/AGENTS.md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152144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4400"/>
                </a:solidFill>
              </a:rPr>
              <a:t>Boundary violations break the plugin contract for ALL third-party developers. CI enforces this via tsconfig.package-boundary.paths.json + pnpm check:architecture.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12848"/>
            <a:ext cx="11521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400" b="1" i="0">
                <a:solidFill>
                  <a:srgbClr val="1B803C"/>
                </a:solidFill>
              </a:rPr>
              <a:t>Extension production code MAY import from: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B803C"/>
                </a:solidFill>
              </a:rPr>
              <a:t>  ✓  openclaw/plugin-sdk/*   (and its subpaths)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1B803C"/>
                </a:solidFill>
              </a:rPr>
              <a:t>  ✓  ./api.ts  and  ./runtime-api.ts   (local barrels only)</a:t>
            </a:r>
          </a:p>
          <a:p>
            <a:pPr algn="l"/>
            <a:endParaRPr sz="1300" b="0" i="0">
              <a:solidFill>
                <a:srgbClr val="1B803C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CC0000"/>
                </a:solidFill>
              </a:rPr>
              <a:t>Extension production code MUST NOT import from: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C0000"/>
                </a:solidFill>
              </a:rPr>
              <a:t>  ✗  src/**  or  src/channels/**  or  src/plugin-sdk-internal/**  (core internals)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CC0000"/>
                </a:solidFill>
              </a:rPr>
              <a:t>  ✗  extensions/*/src/**  (another extension's internals)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CC0000"/>
                </a:solidFill>
              </a:rPr>
              <a:t>  ✗  Relative paths that escape the package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617720"/>
            <a:ext cx="11521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300" b="1" i="0">
                <a:solidFill>
                  <a:srgbClr val="11204E"/>
                </a:solidFill>
              </a:rPr>
              <a:t>Additional rules: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Export public APIs only through  api.ts  /  runtime-api.ts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Keep provider-specific auth, onboarding, catalog logic inside the plugin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Keep control-plane metadata separate from runtime logic in manifests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Do NOT rely on eager global registry seeding / import-time side effects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Plugin SDK Exports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src/plugin-sdk/ — The public contract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2471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// Core plugin interfaces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Plugin }         from 'openclaw/plugin-sdk/core'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ChannelPlugin }  from 'openclaw/plugin-sdk/core'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ProviderPlugin } from 'openclaw/plugin-sdk/provider-entry'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// Runtime utilities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runtime }        from 'openclaw/plugin-sdk/runtime'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logger }         from 'openclaw/plugin-sdk/runtime-logger'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// Channel helpers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channelHelpers } from 'openclaw/plugin-sdk/channel-contract'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// Provider helpers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providerHelpers }from 'openclaw/plugin-sdk/provider-setup'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// Routing helpers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routing }        from 'openclaw/plugin-sdk/routing'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// Sandbox helpers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sandbox }        from 'openclaw/plugin-sdk/sandbox'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Creating a 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External (recommended) vs Bundled (high bar)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400" b="1" i="0">
                <a:solidFill>
                  <a:srgbClr val="11204E"/>
                </a:solidFill>
              </a:rPr>
              <a:t>External Plugin (recommended for community):</a:t>
            </a:r>
          </a:p>
          <a:p>
            <a:pPr algn="l"/>
            <a:endParaRPr sz="1400" b="1" i="0">
              <a:solidFill>
                <a:srgbClr val="11204E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1.  npm init openclaw-plugin  — scaffold from template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2.  Implement the ChannelPlugin / ProviderPlugin interface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</a:rPr>
              <a:t>  3.  npm publish  →  users install with: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1A56BD"/>
                </a:solidFill>
              </a:rPr>
              <a:t>       openclaw plugins install &lt;your-plugin&gt;</a:t>
            </a:r>
          </a:p>
          <a:p>
            <a:pPr algn="l"/>
            <a:endParaRPr sz="1200" b="0" i="0">
              <a:solidFill>
                <a:srgbClr val="1A56BD"/>
              </a:solidFill>
            </a:endParaRP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E65100"/>
                </a:solidFill>
              </a:rPr>
              <a:t>Bundled Plugin (very high bar):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From VISION.md: "The bar for adding optional plugins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   to core is intentionally high."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Only for: essential channels, security-critical features,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  or deep integration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170432"/>
            <a:ext cx="6217920" cy="5394960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1261872"/>
            <a:ext cx="5943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ChannelPlugin } from 'openclaw/plugin-sdk/core'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export const myPlugin: ChannelPlugin = {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id: 'my-channel',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name: 'My Channel',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version: '1.0.0',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async activate(context) {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connect to platform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register inbound message handler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return () =&gt; { /* cleanup */ }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},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async send(message) {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deliver message to platform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},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9. Key Architectural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Manifest-first · Lazy loading · DI · Type safety · Prompt-cache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Architectural Patterns (1–3)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11521440" cy="508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 lang="en-US" dirty="0"/>
          </a:p>
          <a:p>
            <a:pPr algn="l">
              <a:spcBef>
                <a:spcPts val="600"/>
              </a:spcBef>
            </a:pPr>
            <a:r>
              <a:rPr sz="1500" b="1" i="0" dirty="0">
                <a:solidFill>
                  <a:srgbClr val="11204E"/>
                </a:solidFill>
              </a:rPr>
              <a:t>  1. Manifest-First Control Plane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Prefer declarative metadata over runtime execution. Discovery, config validation, and setup hints should come from manifests/schemas, not from running plugin code.</a:t>
            </a:r>
          </a:p>
          <a:p>
            <a:pPr algn="l"/>
            <a:endParaRPr sz="1300" b="0" i="0" dirty="0">
              <a:solidFill>
                <a:srgbClr val="333333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b="1" i="0" dirty="0">
                <a:solidFill>
                  <a:srgbClr val="11204E"/>
                </a:solidFill>
              </a:rPr>
              <a:t>  2. Lazy Loading &amp; Hot Paths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Use *.</a:t>
            </a:r>
            <a:r>
              <a:rPr sz="1300" b="0" i="0" dirty="0" err="1">
                <a:solidFill>
                  <a:srgbClr val="333333"/>
                </a:solidFill>
              </a:rPr>
              <a:t>runtime.ts</a:t>
            </a:r>
            <a:r>
              <a:rPr sz="1300" b="0" i="0" dirty="0">
                <a:solidFill>
                  <a:srgbClr val="333333"/>
                </a:solidFill>
              </a:rPr>
              <a:t> boundaries for lazy imports. Keep SDK facades cheap at module load time. Avoid broad eager imports in hot paths. After edits: </a:t>
            </a:r>
            <a:r>
              <a:rPr sz="1300" b="0" i="0" dirty="0" err="1">
                <a:solidFill>
                  <a:srgbClr val="333333"/>
                </a:solidFill>
              </a:rPr>
              <a:t>pnpm</a:t>
            </a:r>
            <a:r>
              <a:rPr sz="1300" b="0" i="0" dirty="0">
                <a:solidFill>
                  <a:srgbClr val="333333"/>
                </a:solidFill>
              </a:rPr>
              <a:t> build → check for [INEFFECTIVE_DYNAMIC_IMPORT].</a:t>
            </a:r>
          </a:p>
          <a:p>
            <a:pPr algn="l"/>
            <a:endParaRPr sz="1300" b="0" i="0" dirty="0">
              <a:solidFill>
                <a:srgbClr val="333333"/>
              </a:solidFill>
            </a:endParaRPr>
          </a:p>
          <a:p>
            <a:pPr algn="l">
              <a:spcBef>
                <a:spcPts val="600"/>
              </a:spcBef>
            </a:pPr>
            <a:r>
              <a:rPr sz="1500" b="1" i="0" dirty="0">
                <a:solidFill>
                  <a:srgbClr val="11204E"/>
                </a:solidFill>
              </a:rPr>
              <a:t>  3. Dependency Injection</a:t>
            </a:r>
          </a:p>
          <a:p>
            <a:pPr algn="l">
              <a:spcBef>
                <a:spcPts val="200"/>
              </a:spcBef>
            </a:pPr>
            <a:r>
              <a:rPr sz="1300" b="0" i="0" dirty="0">
                <a:solidFill>
                  <a:srgbClr val="333333"/>
                </a:solidFill>
              </a:rPr>
              <a:t>  Pass contexts, loggers, and stores explicitly. Prefer injected deps over module-level </a:t>
            </a:r>
            <a:r>
              <a:rPr sz="1300" b="0" i="0" dirty="0" err="1">
                <a:solidFill>
                  <a:srgbClr val="333333"/>
                </a:solidFill>
              </a:rPr>
              <a:t>globals</a:t>
            </a:r>
            <a:r>
              <a:rPr sz="1300" b="0" i="0" dirty="0">
                <a:solidFill>
                  <a:srgbClr val="333333"/>
                </a:solidFill>
              </a:rPr>
              <a:t>. This makes seams testable without module mocking.</a:t>
            </a:r>
            <a:endParaRPr lang="en-US" sz="1300" b="0" i="0" dirty="0">
              <a:solidFill>
                <a:srgbClr val="333333"/>
              </a:solidFill>
            </a:endParaRPr>
          </a:p>
          <a:p>
            <a:pPr algn="l">
              <a:spcBef>
                <a:spcPts val="200"/>
              </a:spcBef>
            </a:pPr>
            <a:endParaRPr lang="en-US" sz="1300" dirty="0">
              <a:solidFill>
                <a:srgbClr val="333333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US" sz="1500" b="1" i="0" dirty="0">
                <a:solidFill>
                  <a:srgbClr val="11204E"/>
                </a:solidFill>
              </a:rPr>
              <a:t>  4. Type Safety Throughout</a:t>
            </a:r>
          </a:p>
          <a:p>
            <a:pPr algn="l">
              <a:spcBef>
                <a:spcPts val="200"/>
              </a:spcBef>
            </a:pPr>
            <a:r>
              <a:rPr lang="en-US" sz="1300" b="0" i="0" dirty="0">
                <a:solidFill>
                  <a:srgbClr val="333333"/>
                </a:solidFill>
              </a:rPr>
              <a:t>  TypeScript strict mode. Avoid any (prefer unknown + narrowing). Use discriminated unions for variants, not freeform strings. Schema validation at ALL system boundaries (</a:t>
            </a:r>
            <a:r>
              <a:rPr lang="en-US" sz="1300" b="0" i="0" dirty="0" err="1">
                <a:solidFill>
                  <a:srgbClr val="333333"/>
                </a:solidFill>
              </a:rPr>
              <a:t>TypeBox</a:t>
            </a:r>
            <a:r>
              <a:rPr lang="en-US" sz="1300" b="0" i="0" dirty="0">
                <a:solidFill>
                  <a:srgbClr val="333333"/>
                </a:solidFill>
              </a:rPr>
              <a:t> / Zod). No @ts-nocheck. No lint suppression without explicit explanation.</a:t>
            </a:r>
          </a:p>
          <a:p>
            <a:pPr algn="l"/>
            <a:endParaRPr lang="en-US" sz="1300" b="0" i="0" dirty="0">
              <a:solidFill>
                <a:srgbClr val="333333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US" sz="1500" b="1" i="0" dirty="0">
                <a:solidFill>
                  <a:srgbClr val="11204E"/>
                </a:solidFill>
              </a:rPr>
              <a:t>  5. Prompt-Cache Determinism</a:t>
            </a:r>
          </a:p>
          <a:p>
            <a:pPr algn="l">
              <a:spcBef>
                <a:spcPts val="200"/>
              </a:spcBef>
            </a:pPr>
            <a:r>
              <a:rPr lang="en-US" sz="1300" b="0" i="0" dirty="0">
                <a:solidFill>
                  <a:srgbClr val="333333"/>
                </a:solidFill>
              </a:rPr>
              <a:t>  Keep LLM prompt bytes stable across turns to maximize KV-cache hits. Use deterministic ordering for maps/sets/registries/plugin lists/file results. The system prompt is split with an explicit &lt;!-- OPENCLAW_CACHE_BOUNDARY --&gt; marker: stable prefix before it, dynamic additions after it. Preserve old transcript bytes whenever possible.</a:t>
            </a:r>
          </a:p>
          <a:p>
            <a:pPr algn="l"/>
            <a:endParaRPr lang="en-US" sz="1300" b="0" i="0" dirty="0">
              <a:solidFill>
                <a:srgbClr val="333333"/>
              </a:solidFill>
            </a:endParaRPr>
          </a:p>
          <a:p>
            <a:pPr algn="l">
              <a:spcBef>
                <a:spcPts val="200"/>
              </a:spcBef>
            </a:pPr>
            <a:endParaRPr sz="1300" b="0" i="0" dirty="0">
              <a:solidFill>
                <a:srgbClr val="333333"/>
              </a:solidFill>
            </a:endParaRPr>
          </a:p>
          <a:p>
            <a:pPr algn="l"/>
            <a:endParaRPr sz="1300" b="0" i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10. Contributing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Rules · Code style · Commit format · Landing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Contributing Rules &amp; Code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From CONTRIBUTING.md: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Read AGENTS.md first — root + scoped guide for your area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One PR = One Topic  (no bundling unrelated changes)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Keep PRs under ~5,000 lines  (rare exceptions)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No large batches of tiny PRs at once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Update docs when behavior changes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Add tests for new functionality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  ▸  Pass all gates:  pnpm check  +  pnpm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188720"/>
            <a:ext cx="36576" cy="521208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170432"/>
            <a:ext cx="6035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Code Style (from AGENTS.md):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TypeScript ESM with strict types throughout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Avoid any  — prefer  unknown  + narrowing adapters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No @ts-nocheck, no lint suppressions without explanation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External data boundaries: use  zod  or TypeBox schema helpers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Runtime branching: prefer discriminated unions over freeform strings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Avoid magic sentinels:  ?? 0, empty objects when semantics change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Dynamic imports: do not mix static + dynamic for same module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No prototype mixins — use explicit inheritance/composition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Comments: brief, non-obvious logic only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File size: split around ~700 LOC when it improves clarity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  ▸  Naming: American spelling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11.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Essential docs · Boundary guides · Links ·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Essential Documentation &amp; Boundary Guides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400" b="1" i="0">
                <a:solidFill>
                  <a:srgbClr val="11204E"/>
                </a:solidFill>
              </a:rPr>
              <a:t>Essential documentation:</a:t>
            </a:r>
          </a:p>
          <a:p>
            <a:pPr algn="l"/>
            <a:endParaRPr sz="1400" b="1" i="0">
              <a:solidFill>
                <a:srgbClr val="11204E"/>
              </a:solidFill>
            </a:endParaRP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README.md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Project overview, install, quick start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AGENTS.md  (≡ CLAUDE.md)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Root rules for AI and human contributors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VISION.md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Product direction, philosophy, what won't merge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CONTRIBUTING.md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Contribution guidelines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SECURITY.md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Security policy and reporting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CHANGELOG.md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User-facing change history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docs/concepts/architecture.md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Gateway architecture deep-dive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docs/gateway/protocol.md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WebSocket protocol contract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docs/plugins/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Plugin development guides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docs/channels/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Per-channel setup guides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docs/gateway/security.md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Trust model and hardening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A56BD"/>
                </a:solidFill>
              </a:rPr>
              <a:t>  docs/gateway/sandboxing.md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Sandbox backends and scoping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188720"/>
            <a:ext cx="36576" cy="521208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170432"/>
            <a:ext cx="6035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400" b="1" i="0">
                <a:solidFill>
                  <a:srgbClr val="11204E"/>
                </a:solidFill>
              </a:rPr>
              <a:t>Boundary guides (read before touching):</a:t>
            </a:r>
          </a:p>
          <a:p>
            <a:pPr algn="l"/>
            <a:endParaRPr sz="1400" b="1" i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Root rules — always read first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extensions/AGENTS.md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Plugin boundary rules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src/plugin-sdk/AGENTS.md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SDK contract rules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src/gateway/AGENTS.md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Gateway hot paths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src/channels/AGENTS.md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Channel core rules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src/plugins/AGENTS.md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Plugin loader rules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src/agents/AGENTS.md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Agent import/test perf rules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test/helpers/AGENTS.md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Shared test helper rules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docs/AGENTS.md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Docs conventions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A56BD"/>
                </a:solidFill>
              </a:rPr>
              <a:t>  scripts/AGENTS.md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    Scripts rules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External Links &amp; Getting Help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500" b="1" i="0">
                <a:solidFill>
                  <a:srgbClr val="11204E"/>
                </a:solidFill>
              </a:rPr>
              <a:t>Official resources:</a:t>
            </a:r>
          </a:p>
          <a:p>
            <a:pPr algn="l"/>
            <a:endParaRPr sz="1500" b="1" i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A56BD"/>
                </a:solidFill>
              </a:rPr>
              <a:t>  Website       https://openclaw.ai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A56BD"/>
                </a:solidFill>
              </a:rPr>
              <a:t>  Docs          https://docs.openclaw.ai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A56BD"/>
                </a:solidFill>
              </a:rPr>
              <a:t>  GitHub        https://github.com/openclaw/openclaw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A56BD"/>
                </a:solidFill>
              </a:rPr>
              <a:t>  Discord       https://discord.gg/clawd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A56BD"/>
                </a:solidFill>
              </a:rPr>
              <a:t>  ClawHub       https://clawhub.com  (community skill registry)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1A56BD"/>
                </a:solidFill>
              </a:rPr>
              <a:t>  Issues        https://github.com/openclaw/openclaw/issues</a:t>
            </a:r>
          </a:p>
          <a:p>
            <a:pPr algn="l"/>
            <a:endParaRPr sz="1400" b="0" i="0">
              <a:solidFill>
                <a:srgbClr val="1A56BD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E65100"/>
                </a:solidFill>
              </a:rPr>
              <a:t>Getting help: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▸  Discord community — #contributors channel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333333"/>
                </a:solidFill>
              </a:rPr>
              <a:t>  ▸  GitHub Issues — bug reports and feature requests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56BD"/>
                </a:solidFill>
              </a:rPr>
              <a:t>  ▸  openclaw --help  — CLI reference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56BD"/>
                </a:solidFill>
              </a:rPr>
              <a:t>  ▸  openclaw doctor  — diagnose configuration issues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1A56BD"/>
                </a:solidFill>
              </a:rPr>
              <a:t>  ▸  docs.openclaw.ai  — full documentation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12. Quick Start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New contributor step-by-step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New Contributor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Clone repo                 git clone https://github.com/openclaw/openclaw.git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Install                    pnpm install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Build                      pnpm build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Read                       AGENTS.md, VISION.md, CONTRIBUTING.md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Read boundary guide        extensions/AGENTS.md  (or relevant scoped guide for your area)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Run tests                  pnpm test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Run gates                  pnpm check:changed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Pick an issue              Browse GitHub Issues or look for 'good first issue' labels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Make small changes         Fix a typo, add a test, improve docs — learn the flow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333333"/>
                </a:solidFill>
              </a:rPr>
              <a:t>  ☐  Ask questions              Discord #contributors or GitHub Discussions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 dirty="0">
                <a:solidFill>
                  <a:srgbClr val="FFFFFF"/>
                </a:solidFill>
              </a:rPr>
              <a:t>13. Understanding the Codebase by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BCCFF"/>
                </a:solidFill>
              </a:rPr>
              <a:t>Message flow · New channel plugin · Tool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6400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Example 1: Inbound Message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User sends "What's the weather?" on WhatsApp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1" i="0" dirty="0">
                <a:solidFill>
                  <a:srgbClr val="11204E"/>
                </a:solidFill>
              </a:rPr>
              <a:t>  Step 1 — Channel Plugin  (extensions/</a:t>
            </a:r>
            <a:r>
              <a:rPr sz="1400" b="1" i="0" dirty="0" err="1">
                <a:solidFill>
                  <a:srgbClr val="11204E"/>
                </a:solidFill>
              </a:rPr>
              <a:t>whatsapp</a:t>
            </a:r>
            <a:r>
              <a:rPr sz="1400" b="1" i="0" dirty="0">
                <a:solidFill>
                  <a:srgbClr val="11204E"/>
                </a:solidFill>
              </a:rPr>
              <a:t>/)</a:t>
            </a:r>
          </a:p>
          <a:p>
            <a:pPr algn="l">
              <a:spcBef>
                <a:spcPts val="100"/>
              </a:spcBef>
            </a:pPr>
            <a:r>
              <a:rPr sz="1200" b="0" i="0" dirty="0">
                <a:solidFill>
                  <a:srgbClr val="333333"/>
                </a:solidFill>
              </a:rPr>
              <a:t>    ▸  </a:t>
            </a:r>
            <a:r>
              <a:rPr sz="1000" b="0" i="0" dirty="0">
                <a:solidFill>
                  <a:srgbClr val="333333"/>
                </a:solidFill>
              </a:rPr>
              <a:t>Baileys SDK receives WhatsApp message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Plugin converts to unified </a:t>
            </a:r>
            <a:r>
              <a:rPr sz="1000" b="0" i="0" dirty="0" err="1">
                <a:solidFill>
                  <a:srgbClr val="333333"/>
                </a:solidFill>
              </a:rPr>
              <a:t>InboundMessage</a:t>
            </a:r>
            <a:r>
              <a:rPr sz="1000" b="0" i="0" dirty="0">
                <a:solidFill>
                  <a:srgbClr val="333333"/>
                </a:solidFill>
              </a:rPr>
              <a:t> format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Checks DM policy: is sender paired / on </a:t>
            </a:r>
            <a:r>
              <a:rPr sz="1000" b="0" i="0" dirty="0" err="1">
                <a:solidFill>
                  <a:srgbClr val="333333"/>
                </a:solidFill>
              </a:rPr>
              <a:t>allowlist</a:t>
            </a:r>
            <a:r>
              <a:rPr sz="1000" b="0" i="0" dirty="0">
                <a:solidFill>
                  <a:srgbClr val="333333"/>
                </a:solidFill>
              </a:rPr>
              <a:t>?</a:t>
            </a:r>
          </a:p>
          <a:p>
            <a:pPr algn="l">
              <a:spcBef>
                <a:spcPts val="500"/>
              </a:spcBef>
            </a:pPr>
            <a:r>
              <a:rPr sz="1400" b="1" i="0" dirty="0">
                <a:solidFill>
                  <a:srgbClr val="11204E"/>
                </a:solidFill>
              </a:rPr>
              <a:t>  Step 2 — Routing  (</a:t>
            </a:r>
            <a:r>
              <a:rPr sz="1400" b="1" i="0" dirty="0" err="1">
                <a:solidFill>
                  <a:srgbClr val="11204E"/>
                </a:solidFill>
              </a:rPr>
              <a:t>src</a:t>
            </a:r>
            <a:r>
              <a:rPr sz="1400" b="1" i="0" dirty="0">
                <a:solidFill>
                  <a:srgbClr val="11204E"/>
                </a:solidFill>
              </a:rPr>
              <a:t>/routing/)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Resolves session key: </a:t>
            </a:r>
            <a:r>
              <a:rPr sz="1000" b="0" i="0" dirty="0" err="1">
                <a:solidFill>
                  <a:srgbClr val="333333"/>
                </a:solidFill>
              </a:rPr>
              <a:t>agent:main:main</a:t>
            </a:r>
            <a:r>
              <a:rPr sz="1000" b="0" i="0" dirty="0">
                <a:solidFill>
                  <a:srgbClr val="333333"/>
                </a:solidFill>
              </a:rPr>
              <a:t>  (for DM to default agent)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Determines which agent handles this channel/account/peer</a:t>
            </a:r>
          </a:p>
          <a:p>
            <a:pPr algn="l">
              <a:spcBef>
                <a:spcPts val="500"/>
              </a:spcBef>
            </a:pPr>
            <a:r>
              <a:rPr sz="1400" b="1" i="0" dirty="0">
                <a:solidFill>
                  <a:srgbClr val="11204E"/>
                </a:solidFill>
              </a:rPr>
              <a:t>  Step 3 — Agent  (</a:t>
            </a:r>
            <a:r>
              <a:rPr sz="1400" b="1" i="0" dirty="0" err="1">
                <a:solidFill>
                  <a:srgbClr val="11204E"/>
                </a:solidFill>
              </a:rPr>
              <a:t>src</a:t>
            </a:r>
            <a:r>
              <a:rPr sz="1400" b="1" i="0" dirty="0">
                <a:solidFill>
                  <a:srgbClr val="11204E"/>
                </a:solidFill>
              </a:rPr>
              <a:t>/agents/)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Acquires session write lock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Loads session history from JSONL transcript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Builds system prompt + context + skills</a:t>
            </a:r>
          </a:p>
          <a:p>
            <a:pPr algn="l">
              <a:spcBef>
                <a:spcPts val="100"/>
              </a:spcBef>
            </a:pPr>
            <a:r>
              <a:rPr sz="1000" b="0" i="0" dirty="0">
                <a:solidFill>
                  <a:srgbClr val="333333"/>
                </a:solidFill>
              </a:rPr>
              <a:t>    ▸  Calls inference loop: </a:t>
            </a:r>
            <a:r>
              <a:rPr sz="1000" b="0" i="0" dirty="0" err="1">
                <a:solidFill>
                  <a:srgbClr val="333333"/>
                </a:solidFill>
              </a:rPr>
              <a:t>runEmbeddedPiAgent</a:t>
            </a:r>
            <a:r>
              <a:rPr sz="1000" b="0" i="0" dirty="0">
                <a:solidFill>
                  <a:srgbClr val="333333"/>
                </a:solidFill>
              </a:rPr>
              <a:t>()</a:t>
            </a:r>
            <a:endParaRPr lang="en-US" sz="1000" b="0" i="0" dirty="0">
              <a:solidFill>
                <a:srgbClr val="333333"/>
              </a:solidFill>
            </a:endParaRPr>
          </a:p>
          <a:p>
            <a:pPr algn="l">
              <a:spcBef>
                <a:spcPts val="500"/>
              </a:spcBef>
            </a:pPr>
            <a:r>
              <a:rPr lang="en-US" sz="1400" b="1" i="0" dirty="0">
                <a:solidFill>
                  <a:srgbClr val="11204E"/>
                </a:solidFill>
              </a:rPr>
              <a:t>  Step 4 — Provider Plugin  (extensions/anthropic/)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Sends prompt to Anthropic API with auth profile + retry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Streams response tokens back to </a:t>
            </a:r>
            <a:r>
              <a:rPr lang="en-US" sz="1000" b="0" i="0" dirty="0" err="1">
                <a:solidFill>
                  <a:srgbClr val="333333"/>
                </a:solidFill>
              </a:rPr>
              <a:t>subscribeEmbeddedPiSession</a:t>
            </a:r>
            <a:r>
              <a:rPr lang="en-US" sz="1000" b="0" i="0" dirty="0">
                <a:solidFill>
                  <a:srgbClr val="333333"/>
                </a:solidFill>
              </a:rPr>
              <a:t>()</a:t>
            </a:r>
          </a:p>
          <a:p>
            <a:pPr algn="l">
              <a:spcBef>
                <a:spcPts val="500"/>
              </a:spcBef>
            </a:pPr>
            <a:r>
              <a:rPr lang="en-US" sz="1400" b="1" i="0" dirty="0">
                <a:solidFill>
                  <a:srgbClr val="11204E"/>
                </a:solidFill>
              </a:rPr>
              <a:t>  Step 5 — Tool Execution  (</a:t>
            </a:r>
            <a:r>
              <a:rPr lang="en-US" sz="1400" b="1" i="0" dirty="0" err="1">
                <a:solidFill>
                  <a:srgbClr val="11204E"/>
                </a:solidFill>
              </a:rPr>
              <a:t>src</a:t>
            </a:r>
            <a:r>
              <a:rPr lang="en-US" sz="1400" b="1" i="0" dirty="0">
                <a:solidFill>
                  <a:srgbClr val="11204E"/>
                </a:solidFill>
              </a:rPr>
              <a:t>/agents/ + extensions/)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If model calls a tool (e.g. </a:t>
            </a:r>
            <a:r>
              <a:rPr lang="en-US" sz="1000" b="0" i="0" dirty="0" err="1">
                <a:solidFill>
                  <a:srgbClr val="333333"/>
                </a:solidFill>
              </a:rPr>
              <a:t>web_search</a:t>
            </a:r>
            <a:r>
              <a:rPr lang="en-US" sz="1000" b="0" i="0" dirty="0">
                <a:solidFill>
                  <a:srgbClr val="333333"/>
                </a:solidFill>
              </a:rPr>
              <a:t>, bash, browser)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Tool policy pipeline validates: allowed for this agent + session?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Tool handler executes; result returned to model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Inference loop continues until model stops calling tools</a:t>
            </a:r>
          </a:p>
          <a:p>
            <a:pPr algn="l">
              <a:spcBef>
                <a:spcPts val="500"/>
              </a:spcBef>
            </a:pPr>
            <a:r>
              <a:rPr lang="en-US" sz="1400" b="1" i="0" dirty="0">
                <a:solidFill>
                  <a:srgbClr val="11204E"/>
                </a:solidFill>
              </a:rPr>
              <a:t>  Step 6 — Response Delivery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Agent streams response to Gateway event bus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Channel plugin receives stream via Gateway WebSocket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</a:t>
            </a:r>
            <a:r>
              <a:rPr lang="en-US" sz="1000" b="0" i="0" dirty="0" err="1">
                <a:solidFill>
                  <a:srgbClr val="333333"/>
                </a:solidFill>
              </a:rPr>
              <a:t>EmbeddedBlockChunker</a:t>
            </a:r>
            <a:r>
              <a:rPr lang="en-US" sz="1000" b="0" i="0" dirty="0">
                <a:solidFill>
                  <a:srgbClr val="333333"/>
                </a:solidFill>
              </a:rPr>
              <a:t> splits text respecting WhatsApp limits</a:t>
            </a:r>
          </a:p>
          <a:p>
            <a:pPr algn="l">
              <a:spcBef>
                <a:spcPts val="100"/>
              </a:spcBef>
            </a:pPr>
            <a:r>
              <a:rPr lang="en-US" sz="1000" b="0" i="0" dirty="0">
                <a:solidFill>
                  <a:srgbClr val="333333"/>
                </a:solidFill>
              </a:rPr>
              <a:t>    ▸  Message delivered to user on WhatsApp</a:t>
            </a:r>
          </a:p>
          <a:p>
            <a:pPr algn="l">
              <a:spcBef>
                <a:spcPts val="100"/>
              </a:spcBef>
            </a:pPr>
            <a:endParaRPr sz="1200" b="0" i="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Example 2: Adding a New Channel 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Full walkthrough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5029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400" b="1" i="0">
                <a:solidFill>
                  <a:srgbClr val="11204E"/>
                </a:solidFill>
              </a:rPr>
              <a:t>Steps to add a new messaging platform:</a:t>
            </a:r>
          </a:p>
          <a:p>
            <a:pPr algn="l"/>
            <a:endParaRPr sz="1400" b="1" i="0">
              <a:solidFill>
                <a:srgbClr val="11204E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1.  Create the plugin package structure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1A56BD"/>
                </a:solidFill>
              </a:rPr>
              <a:t>     extensions/my-channel/</a:t>
            </a:r>
          </a:p>
          <a:p>
            <a:pPr algn="l"/>
            <a:r>
              <a:rPr sz="1200" b="0" i="0">
                <a:solidFill>
                  <a:srgbClr val="1A56BD"/>
                </a:solidFill>
              </a:rPr>
              <a:t>     ├── openclaw.plugin.json</a:t>
            </a:r>
          </a:p>
          <a:p>
            <a:pPr algn="l"/>
            <a:r>
              <a:rPr sz="1200" b="0" i="0">
                <a:solidFill>
                  <a:srgbClr val="1A56BD"/>
                </a:solidFill>
              </a:rPr>
              <a:t>     ├── package.json</a:t>
            </a:r>
          </a:p>
          <a:p>
            <a:pPr algn="l"/>
            <a:r>
              <a:rPr sz="1200" b="0" i="0">
                <a:solidFill>
                  <a:srgbClr val="1A56BD"/>
                </a:solidFill>
              </a:rPr>
              <a:t>     └── src/index.ts</a:t>
            </a:r>
          </a:p>
          <a:p>
            <a:pPr algn="l"/>
            <a:endParaRPr sz="1200" b="0" i="0">
              <a:solidFill>
                <a:srgbClr val="1A56BD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2.  Implement ChannelPlugin interface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 Import ONLY from openclaw/plugin-sdk/core</a:t>
            </a:r>
          </a:p>
          <a:p>
            <a:pPr algn="l"/>
            <a:endParaRPr sz="1200" b="0" i="0">
              <a:solidFill>
                <a:srgbClr val="333333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3.  Write the manifest  (openclaw.plugin.json)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 id, name, version, type, main</a:t>
            </a:r>
          </a:p>
          <a:p>
            <a:pPr algn="l"/>
            <a:endParaRPr sz="1200" b="0" i="0">
              <a:solidFill>
                <a:srgbClr val="333333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4.  Test  →  pnpm test extensions/my-channel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5.  Document  →  docs/channels/my-channel.md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E65100"/>
                </a:solidFill>
              </a:rPr>
              <a:t>6.  PR  →  follow contribution guidelines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170432"/>
            <a:ext cx="6400800" cy="5394960"/>
          </a:xfrm>
          <a:prstGeom prst="rect">
            <a:avLst/>
          </a:prstGeom>
          <a:solidFill>
            <a:srgbClr val="F0F4FF"/>
          </a:solidFill>
          <a:ln w="6350">
            <a:solidFill>
              <a:srgbClr val="CCD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23560" y="1261872"/>
            <a:ext cx="61264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import { ChannelPlugin } from 'openclaw/plugin-sdk/core'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export const myPlugin: ChannelPlugin = {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id:      'my-channel',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name:    'My Channel',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version: '1.0.0',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async activate(context) {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1. Connect to messaging platform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2. Register inbound message handler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   context.onMessage(handler)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3. Return cleanup function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return () =&gt; { /* disconnect */ }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},</a:t>
            </a:r>
          </a:p>
          <a:p>
            <a:pPr>
              <a:spcBef>
                <a:spcPts val="100"/>
              </a:spcBef>
            </a:pPr>
            <a:endParaRPr sz="1200">
              <a:solidFill>
                <a:srgbClr val="1A56BD"/>
              </a:solidFill>
              <a:latin typeface="Courier New"/>
            </a:endParaRP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async send(message) {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Deliver message to platform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  // Respect platform constraints (char limits, etc.)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  },</a:t>
            </a:r>
          </a:p>
          <a:p>
            <a:pPr>
              <a:spcBef>
                <a:spcPts val="100"/>
              </a:spcBef>
            </a:pPr>
            <a:r>
              <a:rPr sz="1200">
                <a:solidFill>
                  <a:srgbClr val="1A56BD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Example 3: Understanding Tool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How the bash tool works 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  <a:p>
            <a:pPr algn="l"/>
            <a:r>
              <a:rPr sz="1400" b="1" i="0">
                <a:solidFill>
                  <a:srgbClr val="11204E"/>
                </a:solidFill>
              </a:rPr>
              <a:t>Tools give the agent real capabilities to affect the world:</a:t>
            </a:r>
          </a:p>
          <a:p>
            <a:pPr algn="l"/>
            <a:endParaRPr sz="1400" b="1" i="0">
              <a:solidFill>
                <a:srgbClr val="11204E"/>
              </a:solidFill>
            </a:endParaRP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E65100"/>
                </a:solidFill>
              </a:rPr>
              <a:t>  1. Tool Declaration  (src/agents/bash-tools.schemas.ts)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TypeBox schema defines: command, timeout, working directory, env …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E65100"/>
                </a:solidFill>
              </a:rPr>
              <a:t>  2. Model Decides to Use a Tool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During inference, model emits a tool_use block with arguments (JSON)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E65100"/>
                </a:solidFill>
              </a:rPr>
              <a:t>  3. Policy Pipeline Check  (src/agents/tool-policy-pipeline.ts)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6 layers evaluated: profile → provider-profile → global → per-provider → per-agent → group. If denied: tool error returned; agent continues or stops.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E65100"/>
                </a:solidFill>
              </a:rPr>
              <a:t>  4. Approval Check  (if elevated tool or approval required)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Human-in-the-loop approval requested via Gateway WebSocket; operator approves or denies. Auto-approve possible via rules.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E65100"/>
                </a:solidFill>
              </a:rPr>
              <a:t>  5. Sandbox Routing  (src/agents/sandbox.ts)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If sandboxed: tool runs inside Docker / SSH / OpenShell container. If unsandboxed (main agent): tool runs on host directly.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E65100"/>
                </a:solidFill>
              </a:rPr>
              <a:t>  6. Execution + Result</a:t>
            </a:r>
          </a:p>
          <a:p>
            <a:pPr algn="l">
              <a:spcBef>
                <a:spcPts val="100"/>
              </a:spcBef>
            </a:pPr>
            <a:r>
              <a:rPr sz="1200" b="0" i="0">
                <a:solidFill>
                  <a:srgbClr val="333333"/>
                </a:solidFill>
              </a:rPr>
              <a:t>    Tool handler runs; result (stdout/stderr/exit-code) returned to model. Model continues inference, potentially calling more tools.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6111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OpenClaw Developer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CCFF"/>
                </a:solidFill>
              </a:rPr>
              <a:t>Your journey into the OpenClaw codebase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1521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170432"/>
            <a:ext cx="73152" cy="530352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204E"/>
                </a:solidFill>
              </a:rPr>
              <a:t>1.  Explore a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4813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Pick channels, agents, or plugins — read the real source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83664"/>
            <a:ext cx="73152" cy="530352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</a:rPr>
              <a:t>2.  Run the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openclaw onboard → connect a channel → send a 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96896"/>
            <a:ext cx="73152" cy="530352"/>
          </a:xfrm>
          <a:prstGeom prst="rect">
            <a:avLst/>
          </a:prstGeom>
          <a:solidFill>
            <a:srgbClr val="1B8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633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803C"/>
                </a:solidFill>
              </a:rPr>
              <a:t>3.  Make a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0779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Fix a typo, add a test, improve a doc — learn the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10128"/>
            <a:ext cx="73152" cy="530352"/>
          </a:xfrm>
          <a:prstGeom prst="rect">
            <a:avLst/>
          </a:prstGeom>
          <a:solidFill>
            <a:srgbClr val="1A7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5BD"/>
                </a:solidFill>
              </a:rPr>
              <a:t>4.  Read actual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2102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best learning is reading real production implementations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023360"/>
            <a:ext cx="73152" cy="530352"/>
          </a:xfrm>
          <a:prstGeom prst="rect">
            <a:avLst/>
          </a:prstGeom>
          <a:solidFill>
            <a:srgbClr val="8B0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0599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008B"/>
                </a:solidFill>
              </a:rPr>
              <a:t>5.  Ask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3425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Discord #contributors or GitHub Issues — the community is welcoming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46320"/>
            <a:ext cx="11521440" cy="1554480"/>
          </a:xfrm>
          <a:prstGeom prst="rect">
            <a:avLst/>
          </a:prstGeom>
          <a:solidFill>
            <a:srgbClr val="112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498348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Welcome to OpenClaw! 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5778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CCFF"/>
                </a:solidFill>
              </a:rPr>
              <a:t>github.com/openclaw/openclaw  ·  docs.openclaw.ai  ·  discord.gg/clawd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5557</Words>
  <Application>Microsoft Office PowerPoint</Application>
  <PresentationFormat>Custom</PresentationFormat>
  <Paragraphs>845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-apple-system</vt:lpstr>
      <vt:lpstr>Arial</vt:lpstr>
      <vt:lpstr>Arial Unicode MS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Michael Atamuk (A)</cp:lastModifiedBy>
  <cp:revision>32</cp:revision>
  <dcterms:created xsi:type="dcterms:W3CDTF">2013-01-27T09:14:16Z</dcterms:created>
  <dcterms:modified xsi:type="dcterms:W3CDTF">2026-04-22T16:23:51Z</dcterms:modified>
  <cp:category/>
</cp:coreProperties>
</file>