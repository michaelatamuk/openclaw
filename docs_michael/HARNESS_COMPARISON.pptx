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1" r:id="rId12"/>
    <p:sldId id="282" r:id="rId13"/>
    <p:sldId id="283" r:id="rId14"/>
    <p:sldId id="277" r:id="rId15"/>
    <p:sldId id="278" r:id="rId16"/>
    <p:sldId id="279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DD6F4"/>
                </a:solidFill>
                <a:latin typeface="Calibri"/>
              </a:rPr>
              <a:t>OpenClaw Harness: Comparative Analysis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20440"/>
            <a:ext cx="9994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89B4FA"/>
                </a:solidFill>
                <a:latin typeface="Calibri"/>
              </a:rPr>
              <a:t>An honest technical comparison of OpenClaw's agent harness against major alternatives as of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AC2DE"/>
                </a:solidFill>
                <a:latin typeface="Calibri"/>
              </a:rPr>
              <a:t>Document prepared: 2026-04-21  ·  Based on OpenClaw v2026.4.20  ·  All file refs are repo-root relative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What 'Harness' Means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7132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chemeClr val="bg1"/>
                </a:solidFill>
                <a:latin typeface="Calibri"/>
              </a:rPr>
              <a:t>Run loop management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serialization, concurrency, lifecycle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Tool execution pipeline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discovery, policy enforcement, approval, sandboxing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Context management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budget tracking, compaction, prompt assembly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Sub-agent coordination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spawning, lifecycle, communication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Memory and skills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injection into context, retrieval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Streaming delivery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chunking, backpressure, partial replies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Failover and reliability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— provider switching, retry, error classification</a:t>
            </a:r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b="1" dirty="0">
                <a:solidFill>
                  <a:schemeClr val="bg1"/>
                </a:solidFill>
                <a:latin typeface="Calibri"/>
              </a:rPr>
              <a:t>Observability</a:t>
            </a:r>
            <a:r>
              <a:rPr sz="1600" dirty="0">
                <a:solidFill>
                  <a:srgbClr val="BAC2DE"/>
                </a:solidFill>
                <a:latin typeface="Calibri"/>
              </a:rPr>
              <a:t> — tracing, logging, debugging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508760"/>
            <a:ext cx="4114800" cy="2286000"/>
          </a:xfrm>
          <a:prstGeom prst="rect">
            <a:avLst/>
          </a:prstGeom>
          <a:solidFill>
            <a:srgbClr val="28283D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79" y="1627632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  <a:latin typeface="Calibri"/>
              </a:rPr>
              <a:t>Central 2026 insight (Terminal-Bench 2.0, SWE-bench Verified):</a:t>
            </a:r>
          </a:p>
          <a:p>
            <a:pPr algn="l"/>
            <a:r>
              <a:rPr sz="1300" b="1">
                <a:solidFill>
                  <a:srgbClr val="CDD6F4"/>
                </a:solidFill>
                <a:latin typeface="Calibri"/>
              </a:rPr>
              <a:t>
"The harness, not the model, drives the remaining variance. A mid-tier model in a great harness beats a frontier model in a bad one."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CDD6F4"/>
                </a:solidFill>
                <a:latin typeface="Calibri"/>
              </a:rPr>
              <a:t>OpenClaw</a:t>
            </a:r>
            <a:r>
              <a:rPr sz="3000" b="1" dirty="0">
                <a:solidFill>
                  <a:srgbClr val="CDD6F4"/>
                </a:solidFill>
                <a:latin typeface="Calibri"/>
              </a:rPr>
              <a:t> Harness Architecture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  <a:latin typeface="Calibri"/>
              </a:rPr>
              <a:t>Run Loop (src/agents/pi-embedded-runner/)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77724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BAC2DE"/>
                </a:solidFill>
                <a:latin typeface="Calibri"/>
              </a:rPr>
              <a:t>Gateway RPC: agent request</a:t>
            </a:r>
          </a:p>
          <a:p>
            <a:r>
              <a:rPr lang="en-US" sz="15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lang="en-US" sz="1500" dirty="0" err="1">
                <a:solidFill>
                  <a:srgbClr val="BAC2DE"/>
                </a:solidFill>
                <a:latin typeface="Calibri"/>
              </a:rPr>
              <a:t>agentCommand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  (model/thinking defaults, skills snapshot, session lock)</a:t>
            </a:r>
            <a:endParaRPr sz="1500" dirty="0">
              <a:solidFill>
                <a:srgbClr val="BAC2DE"/>
              </a:solidFill>
              <a:latin typeface="Calibri"/>
            </a:endParaRPr>
          </a:p>
          <a:p>
            <a:r>
              <a:rPr lang="en-US" sz="15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runEmbeddedPiAgent</a:t>
            </a:r>
            <a:r>
              <a:rPr sz="1500" dirty="0">
                <a:solidFill>
                  <a:srgbClr val="BAC2DE"/>
                </a:solidFill>
                <a:latin typeface="Calibri"/>
              </a:rPr>
              <a:t>  (lane serialization, model + auth resolution)</a:t>
            </a:r>
          </a:p>
          <a:p>
            <a:r>
              <a:rPr lang="en-US" sz="15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subscribeEmbeddedPiSession</a:t>
            </a:r>
            <a:r>
              <a:rPr sz="1500" dirty="0">
                <a:solidFill>
                  <a:srgbClr val="BAC2DE"/>
                </a:solidFill>
                <a:latin typeface="Calibri"/>
              </a:rPr>
              <a:t>  (pi-core event bridge →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500" dirty="0">
                <a:solidFill>
                  <a:srgbClr val="BAC2DE"/>
                </a:solidFill>
                <a:latin typeface="Calibri"/>
              </a:rPr>
              <a:t> event stream)</a:t>
            </a:r>
          </a:p>
          <a:p>
            <a:r>
              <a:rPr lang="en-US" sz="15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500" dirty="0">
                <a:solidFill>
                  <a:srgbClr val="BAC2DE"/>
                </a:solidFill>
                <a:latin typeface="Calibri"/>
              </a:rPr>
              <a:t>Streaming: tool events, assistant deltas, lifecycle events</a:t>
            </a:r>
          </a:p>
          <a:p>
            <a:r>
              <a:rPr lang="en-US" sz="15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waitForAgentRun</a:t>
            </a:r>
            <a:r>
              <a:rPr sz="1500" dirty="0">
                <a:solidFill>
                  <a:srgbClr val="BAC2DE"/>
                </a:solidFill>
                <a:latin typeface="Calibri"/>
              </a:rPr>
              <a:t>  (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runId</a:t>
            </a:r>
            <a:r>
              <a:rPr sz="1500" dirty="0">
                <a:solidFill>
                  <a:srgbClr val="BAC2DE"/>
                </a:solidFill>
                <a:latin typeface="Calibri"/>
              </a:rPr>
              <a:t>-based wait)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3950826"/>
            <a:ext cx="605360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89B4FA"/>
                </a:solidFill>
                <a:latin typeface="Calibri"/>
              </a:rPr>
              <a:t>Key Properties</a:t>
            </a:r>
          </a:p>
          <a:p>
            <a:r>
              <a:rPr sz="1400" dirty="0">
                <a:solidFill>
                  <a:srgbClr val="BAC2DE"/>
                </a:solidFill>
                <a:latin typeface="Calibri"/>
              </a:rPr>
              <a:t>Per-session lanes serialize concurrent runs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.</a:t>
            </a:r>
            <a:endParaRPr sz="1400" dirty="0">
              <a:solidFill>
                <a:srgbClr val="BAC2DE"/>
              </a:solidFill>
              <a:latin typeface="Calibri"/>
            </a:endParaRPr>
          </a:p>
          <a:p>
            <a:endParaRPr lang="en-US" sz="1400" dirty="0">
              <a:solidFill>
                <a:srgbClr val="BAC2DE"/>
              </a:solidFill>
              <a:latin typeface="Calibri"/>
            </a:endParaRPr>
          </a:p>
          <a:p>
            <a:r>
              <a:rPr sz="1400" dirty="0">
                <a:solidFill>
                  <a:srgbClr val="BAC2DE"/>
                </a:solidFill>
                <a:latin typeface="Calibri"/>
              </a:rPr>
              <a:t>Global lane available for cross-session work</a:t>
            </a:r>
          </a:p>
          <a:p>
            <a:endParaRPr lang="en-US" sz="1400" dirty="0">
              <a:solidFill>
                <a:srgbClr val="BAC2DE"/>
              </a:solidFill>
              <a:latin typeface="Calibri"/>
            </a:endParaRPr>
          </a:p>
          <a:p>
            <a:r>
              <a:rPr sz="1400" dirty="0">
                <a:solidFill>
                  <a:srgbClr val="BAC2DE"/>
                </a:solidFill>
                <a:latin typeface="Calibri"/>
              </a:rPr>
              <a:t>Queue modes: collect / steer / </a:t>
            </a:r>
            <a:r>
              <a:rPr sz="1400" dirty="0" err="1">
                <a:solidFill>
                  <a:srgbClr val="BAC2DE"/>
                </a:solidFill>
                <a:latin typeface="Calibri"/>
              </a:rPr>
              <a:t>followup</a:t>
            </a:r>
            <a:endParaRPr sz="1400" dirty="0">
              <a:solidFill>
                <a:srgbClr val="BAC2DE"/>
              </a:solidFill>
              <a:latin typeface="Calibri"/>
            </a:endParaRPr>
          </a:p>
          <a:p>
            <a:endParaRPr lang="en-US" sz="1400" dirty="0">
              <a:solidFill>
                <a:srgbClr val="BAC2DE"/>
              </a:solidFill>
              <a:latin typeface="Calibri"/>
            </a:endParaRPr>
          </a:p>
          <a:p>
            <a:r>
              <a:rPr sz="1400" dirty="0">
                <a:solidFill>
                  <a:srgbClr val="BAC2DE"/>
                </a:solidFill>
                <a:latin typeface="Calibri"/>
              </a:rPr>
              <a:t>Controls what happens when a new message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 </a:t>
            </a:r>
            <a:r>
              <a:rPr sz="1400" dirty="0">
                <a:solidFill>
                  <a:srgbClr val="BAC2DE"/>
                </a:solidFill>
                <a:latin typeface="Calibri"/>
              </a:rPr>
              <a:t>arrives while a run is in progress</a:t>
            </a:r>
          </a:p>
          <a:p>
            <a:endParaRPr lang="en-US" sz="1400" dirty="0">
              <a:solidFill>
                <a:srgbClr val="BAC2DE"/>
              </a:solidFill>
              <a:latin typeface="Calibri"/>
            </a:endParaRPr>
          </a:p>
          <a:p>
            <a:r>
              <a:rPr sz="1400" dirty="0">
                <a:solidFill>
                  <a:srgbClr val="BAC2DE"/>
                </a:solidFill>
                <a:latin typeface="Calibri"/>
              </a:rPr>
              <a:t>Core component: pi-agent-core event bridge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8A5109-E898-4E19-B001-4E471FF110BB}"/>
              </a:ext>
            </a:extLst>
          </p:cNvPr>
          <p:cNvSpPr/>
          <p:nvPr/>
        </p:nvSpPr>
        <p:spPr>
          <a:xfrm>
            <a:off x="6510802" y="3266968"/>
            <a:ext cx="5297332" cy="2933986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4D45D-3C6A-4237-8695-A320CB50704D}"/>
              </a:ext>
            </a:extLst>
          </p:cNvPr>
          <p:cNvSpPr txBox="1"/>
          <p:nvPr/>
        </p:nvSpPr>
        <p:spPr>
          <a:xfrm>
            <a:off x="6583953" y="3321830"/>
            <a:ext cx="5224180" cy="2759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89B4FA"/>
                </a:solidFill>
                <a:latin typeface="Courier New"/>
              </a:rPr>
              <a:t>// Gateway RPC entry</a:t>
            </a:r>
          </a:p>
          <a:p>
            <a:r>
              <a:rPr sz="800" dirty="0" err="1">
                <a:solidFill>
                  <a:srgbClr val="89B4FA"/>
                </a:solidFill>
                <a:latin typeface="Courier New"/>
              </a:rPr>
              <a:t>agentCommand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(request)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// Apply model/thinking defaults, capture skills snapshot, acquire session lock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→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runEmbeddedPiAgent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(params)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// Serialize via per-session lane (or global lane)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// Resolve model + auth from provider registry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→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subscribeEmbeddedPiSession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sessionId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runId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)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      // Bridge pi-core events →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OpenClaw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EventStream</a:t>
            </a:r>
            <a:endParaRPr sz="800" dirty="0">
              <a:solidFill>
                <a:srgbClr val="89B4FA"/>
              </a:solidFill>
              <a:latin typeface="Courier New"/>
            </a:endParaRP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      //  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tool_start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 /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tool_end</a:t>
            </a:r>
            <a:endParaRPr sz="800" dirty="0">
              <a:solidFill>
                <a:srgbClr val="89B4FA"/>
              </a:solidFill>
              <a:latin typeface="Courier New"/>
            </a:endParaRP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      //  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assistant_delta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 (streaming token chunks)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      //   lifecycle: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run_start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run_end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, error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    → streaming output to channel delivery layer</a:t>
            </a:r>
          </a:p>
          <a:p>
            <a:endParaRPr sz="800" dirty="0">
              <a:solidFill>
                <a:srgbClr val="89B4FA"/>
              </a:solidFill>
              <a:latin typeface="Courier New"/>
            </a:endParaRP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// Concurrency model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Queue modes per session: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collect   — buffer incoming while running; replay after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steer     — inject new message mid-run to steer</a:t>
            </a: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 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followup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  — queue as next run after current finishes</a:t>
            </a:r>
          </a:p>
          <a:p>
            <a:endParaRPr sz="800" dirty="0">
              <a:solidFill>
                <a:srgbClr val="89B4FA"/>
              </a:solidFill>
              <a:latin typeface="Courier New"/>
            </a:endParaRPr>
          </a:p>
          <a:p>
            <a:r>
              <a:rPr sz="800" dirty="0">
                <a:solidFill>
                  <a:srgbClr val="89B4FA"/>
                </a:solidFill>
                <a:latin typeface="Courier New"/>
              </a:rPr>
              <a:t>// Wait primitive</a:t>
            </a:r>
          </a:p>
          <a:p>
            <a:r>
              <a:rPr sz="800" dirty="0" err="1">
                <a:solidFill>
                  <a:srgbClr val="89B4FA"/>
                </a:solidFill>
                <a:latin typeface="Courier New"/>
              </a:rPr>
              <a:t>waitForAgentRun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runId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)  →  resolves when </a:t>
            </a:r>
            <a:r>
              <a:rPr sz="800" dirty="0" err="1">
                <a:solidFill>
                  <a:srgbClr val="89B4FA"/>
                </a:solidFill>
                <a:latin typeface="Courier New"/>
              </a:rPr>
              <a:t>run_end</a:t>
            </a:r>
            <a:r>
              <a:rPr sz="800" dirty="0">
                <a:solidFill>
                  <a:srgbClr val="89B4FA"/>
                </a:solidFill>
                <a:latin typeface="Courier New"/>
              </a:rPr>
              <a:t> event received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Tool Policy Pipeline  (src/agents/tool-policy-pipeline.ts)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44752"/>
            <a:ext cx="6217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89B4FA"/>
                </a:solidFill>
                <a:latin typeface="Calibri"/>
              </a:rPr>
              <a:t>Six layers — first non-null policy wins: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Layer 1 — tools.profile                    (model-profile override)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Layer 2 — tools.byProvider.profile         (provider-profile override)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Layer 3 — tools.allow                      (global allowlist / denylist)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Layer 4 — tools.byProvider.allow           (per-provider global policy)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Layer 5 — agents.&lt;id&gt;.tools.allow          (per-agent policy)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Layer 6 — agents.&lt;id&gt;.tools.byProvider.allow  (per-agent per-provider)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+ group policy (per-session-type overlay)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444752"/>
            <a:ext cx="5029200" cy="3200400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31152" y="1499616"/>
            <a:ext cx="4882896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B4FA"/>
                </a:solidFill>
                <a:latin typeface="Courier New"/>
              </a:rPr>
              <a:t>// Simplified resolution order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function resolveToolPolicy(ctx: PolicyContext): ToolPolicy {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return (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ctx.modelProfile?.tools  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ctx.providerProfile?.tools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ctx.globalAllow          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ctx.perProviderAllow     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ctx.agentAllow           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ctx.agentPerProviderAllow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ctx.groupOverlay                 ??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  DEFAULT_POLICY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  );</a:t>
            </a:r>
          </a:p>
          <a:p>
            <a:r>
              <a:rPr sz="1000">
                <a:solidFill>
                  <a:srgbClr val="89B4FA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B4FA"/>
                </a:solidFill>
                <a:latin typeface="Calibri"/>
              </a:rPr>
              <a:t>Rule: first non-null policy in the chain wins. Group/session-type overlay applied last as a final cap.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Sub-Agent Spawning  (src/agents/subagent-spawn.ts)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745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BAC2DE"/>
                </a:solidFill>
                <a:latin typeface="Calibri"/>
              </a:rPr>
              <a:t>Triggered from within a running agent turn via </a:t>
            </a:r>
            <a:r>
              <a:rPr sz="1600" dirty="0" err="1">
                <a:solidFill>
                  <a:srgbClr val="BAC2DE"/>
                </a:solidFill>
                <a:latin typeface="Calibri"/>
              </a:rPr>
              <a:t>sessions_spawn</a:t>
            </a:r>
            <a:r>
              <a:rPr sz="1600" dirty="0">
                <a:solidFill>
                  <a:srgbClr val="BAC2DE"/>
                </a:solidFill>
                <a:latin typeface="Calibri"/>
              </a:rPr>
              <a:t> tool call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New session key is created in the registry immediately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Inherits: workspace root, sandbox mode, capabilities, delivery context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Depth limit enforced: DEFAULT_SUBAGENT_MAX_SPAWN_DEPTH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Children-per-agent limit: DEFAULT_SUBAGENT_MAX_CHILDREN_PER_AGENT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Registry persists to disk for crash recovery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Communication: announcement-based via subagent-</a:t>
            </a:r>
            <a:r>
              <a:rPr sz="1600" dirty="0" err="1">
                <a:solidFill>
                  <a:srgbClr val="BAC2DE"/>
                </a:solidFill>
                <a:latin typeface="Calibri"/>
              </a:rPr>
              <a:t>announce.ts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Child posts completion announcement; parent polls or waits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No shared memory namespace or typed bidirectional message passing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ACP Harness Spawning  (src/agents/acp-spawn.ts)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AC2DE"/>
                </a:solidFill>
                <a:latin typeface="Calibri"/>
              </a:rPr>
              <a:t>OpenClaw can launch external agent harnesses (Claude Code, Codex CLI, Gemini CLI) as ACP harness sessions from within a running agent turn.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BAC2DE"/>
                </a:solidFill>
                <a:latin typeface="Calibri"/>
              </a:rPr>
              <a:t>Full control plane: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sz="1500" dirty="0">
                <a:solidFill>
                  <a:srgbClr val="BAC2DE"/>
                </a:solidFill>
                <a:latin typeface="Calibri"/>
              </a:rPr>
              <a:t>/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sz="1500" dirty="0">
                <a:solidFill>
                  <a:srgbClr val="BAC2DE"/>
                </a:solidFill>
                <a:latin typeface="Calibri"/>
              </a:rPr>
              <a:t>/control-plane/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Streaming relay back to the Gateway — progress visible in real time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Thread binding — attach to a channel conversation (e.g. WhatsApp thread)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Policy enforcement over what the child harness can do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Identity management: each ACP child gets its own session identity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Lifecycle management: start, monitor, terminate, relay completion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Meta-harness: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500" dirty="0">
                <a:solidFill>
                  <a:srgbClr val="BAC2DE"/>
                </a:solidFill>
                <a:latin typeface="Calibri"/>
              </a:rPr>
              <a:t> orchestrates the orchestrators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Example path: WhatsApp message →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500" dirty="0">
                <a:solidFill>
                  <a:srgbClr val="BAC2DE"/>
                </a:solidFill>
                <a:latin typeface="Calibri"/>
              </a:rPr>
              <a:t> → spawns Claude Code as ACP harness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  → relays coding progress back to the WhatsApp conversation</a:t>
            </a:r>
          </a:p>
          <a:p>
            <a:r>
              <a:rPr sz="1500" dirty="0">
                <a:solidFill>
                  <a:srgbClr val="BAC2DE"/>
                </a:solidFill>
                <a:latin typeface="Calibri"/>
              </a:rPr>
              <a:t>No other system in 2026 has this path </a:t>
            </a:r>
            <a:r>
              <a:rPr sz="1500" dirty="0" err="1">
                <a:solidFill>
                  <a:srgbClr val="BAC2DE"/>
                </a:solidFill>
                <a:latin typeface="Calibri"/>
              </a:rPr>
              <a:t>productised</a:t>
            </a:r>
            <a:endParaRPr sz="1500" dirty="0">
              <a:solidFill>
                <a:srgbClr val="BAC2D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Compaction  (src/agents/pi-embedded-runner/compact.*.ts)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7455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BAC2DE"/>
                </a:solidFill>
                <a:latin typeface="Calibri"/>
              </a:rPr>
              <a:t>Triggered by token budget overflow or timeout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Queued — never interrupts an active run mid-stream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Hook points: </a:t>
            </a:r>
            <a:r>
              <a:rPr sz="1600" dirty="0" err="1">
                <a:solidFill>
                  <a:srgbClr val="BAC2DE"/>
                </a:solidFill>
                <a:latin typeface="Calibri"/>
              </a:rPr>
              <a:t>before_compaction</a:t>
            </a:r>
            <a:r>
              <a:rPr sz="1600" dirty="0">
                <a:solidFill>
                  <a:srgbClr val="BAC2DE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BAC2DE"/>
                </a:solidFill>
                <a:latin typeface="Calibri"/>
              </a:rPr>
              <a:t>after_compaction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Safety timeout: aborts compaction if summary generation stalls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Identifier preservation policy: strict / custom / off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Summary merges for large histories: chunk → summarize → merge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>
                <a:solidFill>
                  <a:srgbClr val="BAC2DE"/>
                </a:solidFill>
                <a:latin typeface="Calibri"/>
              </a:rPr>
              <a:t>Reactive design: triggered after overflow detected (not predictive)</a:t>
            </a:r>
          </a:p>
          <a:p>
            <a:r>
              <a:rPr lang="en-US" sz="1600" dirty="0">
                <a:solidFill>
                  <a:srgbClr val="BAC2DE"/>
                </a:solidFill>
                <a:latin typeface="Calibri"/>
              </a:rPr>
              <a:t>	→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sz="16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sz="1600" dirty="0">
                <a:solidFill>
                  <a:srgbClr val="BAC2DE"/>
                </a:solidFill>
                <a:latin typeface="Calibri"/>
              </a:rPr>
              <a:t>/agents/context-window-</a:t>
            </a:r>
            <a:r>
              <a:rPr sz="1600" dirty="0" err="1">
                <a:solidFill>
                  <a:srgbClr val="BAC2DE"/>
                </a:solidFill>
                <a:latin typeface="Calibri"/>
              </a:rPr>
              <a:t>guard.ts</a:t>
            </a:r>
            <a:r>
              <a:rPr sz="1600" dirty="0">
                <a:solidFill>
                  <a:srgbClr val="BAC2DE"/>
                </a:solidFill>
                <a:latin typeface="Calibri"/>
              </a:rPr>
              <a:t> guards at gateway RPC level</a:t>
            </a:r>
            <a:r>
              <a:rPr lang="en-US" sz="1600" dirty="0">
                <a:solidFill>
                  <a:srgbClr val="BAC2DE"/>
                </a:solidFill>
                <a:latin typeface="Calibri"/>
              </a:rPr>
              <a:t>,</a:t>
            </a:r>
            <a:r>
              <a:rPr sz="1600" dirty="0">
                <a:solidFill>
                  <a:srgbClr val="BAC2DE"/>
                </a:solidFill>
                <a:latin typeface="Calibri"/>
              </a:rPr>
              <a:t> but does not control compaction timing within a run</a:t>
            </a:r>
          </a:p>
          <a:p>
            <a:endParaRPr lang="en-US"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>
                <a:solidFill>
                  <a:srgbClr val="BAC2DE"/>
                </a:solidFill>
                <a:latin typeface="Calibri"/>
              </a:rPr>
              <a:t>Gap: no predictive trigger at ~90–98% token budget</a:t>
            </a:r>
          </a:p>
          <a:p>
            <a:r>
              <a:rPr sz="1600" dirty="0">
                <a:solidFill>
                  <a:srgbClr val="BAC2DE"/>
                </a:solidFill>
                <a:latin typeface="Calibri"/>
              </a:rPr>
              <a:t>Claude Code comparison: 5-layer compaction pipeline with predictive triggers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Hook Surface — 14+ Plugin Hook Points Across 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89B4FA"/>
                </a:solidFill>
                <a:latin typeface="Calibri"/>
              </a:rPr>
              <a:t>Hooks (1–8)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before_model_resolve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before_prompt_build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before_agent_start  (legacy)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before_agent_reply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agent_end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before_compaction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after_compaction</a:t>
            </a:r>
          </a:p>
          <a:p>
            <a:r>
              <a:rPr sz="1600">
                <a:solidFill>
                  <a:srgbClr val="BAC2DE"/>
                </a:solidFill>
                <a:latin typeface="Calibri"/>
              </a:rPr>
              <a:t>before_tool_call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81328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89B4FA"/>
                </a:solidFill>
                <a:latin typeface="Calibri"/>
              </a:rPr>
              <a:t>Hooks (9–18)</a:t>
            </a: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after_tool_call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before_install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tool_result_persist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message_received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message_sending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message_sent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session_start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session_end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gateway_start</a:t>
            </a:r>
            <a:endParaRPr sz="1600" dirty="0">
              <a:solidFill>
                <a:srgbClr val="BAC2DE"/>
              </a:solidFill>
              <a:latin typeface="Calibri"/>
            </a:endParaRPr>
          </a:p>
          <a:p>
            <a:r>
              <a:rPr sz="1600" dirty="0" err="1">
                <a:solidFill>
                  <a:srgbClr val="BAC2DE"/>
                </a:solidFill>
                <a:latin typeface="Calibri"/>
              </a:rPr>
              <a:t>gateway_stop</a:t>
            </a:r>
            <a:endParaRPr sz="16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7880" y="1463040"/>
            <a:ext cx="36576" cy="5029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CDD6F4"/>
                </a:solidFill>
                <a:latin typeface="Calibri"/>
              </a:rPr>
              <a:t>The Comparison Matrix  (19 Dimensions × </a:t>
            </a:r>
            <a:r>
              <a:rPr lang="en-US" sz="3000" b="1" dirty="0">
                <a:solidFill>
                  <a:srgbClr val="CDD6F4"/>
                </a:solidFill>
                <a:latin typeface="Calibri"/>
              </a:rPr>
              <a:t>8</a:t>
            </a:r>
            <a:r>
              <a:rPr sz="3000" b="1" dirty="0">
                <a:solidFill>
                  <a:srgbClr val="CDD6F4"/>
                </a:solidFill>
                <a:latin typeface="Calibri"/>
              </a:rPr>
              <a:t> Systems)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215237"/>
              </p:ext>
            </p:extLst>
          </p:nvPr>
        </p:nvGraphicFramePr>
        <p:xfrm>
          <a:off x="182880" y="913368"/>
          <a:ext cx="11882306" cy="562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9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4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4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CDD6F4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CDD6F4"/>
                          </a:solidFill>
                          <a:latin typeface="Calibri"/>
                        </a:rPr>
                        <a:t>OpenClaw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CDD6F4"/>
                          </a:solidFill>
                          <a:latin typeface="Calibri"/>
                        </a:rPr>
                        <a:t>Claude Code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CDD6F4"/>
                          </a:solidFill>
                          <a:latin typeface="Calibri"/>
                        </a:rPr>
                        <a:t>Goose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CDD6F4"/>
                          </a:solidFill>
                          <a:latin typeface="Calibri"/>
                        </a:rPr>
                        <a:t>OpenHands</a:t>
                      </a:r>
                      <a:endParaRPr sz="800" b="1" dirty="0">
                        <a:solidFill>
                          <a:srgbClr val="CDD6F4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CDD6F4"/>
                          </a:solidFill>
                          <a:latin typeface="Calibri"/>
                        </a:rPr>
                        <a:t>Plandex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CDD6F4"/>
                          </a:solidFill>
                          <a:latin typeface="Calibri"/>
                        </a:rPr>
                        <a:t>OAI Agents SDK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CDD6F4"/>
                          </a:solidFill>
                          <a:latin typeface="Calibri"/>
                        </a:rPr>
                        <a:t>Aider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kern="1200" dirty="0" err="1">
                          <a:solidFill>
                            <a:srgbClr val="CDD6F4"/>
                          </a:solidFill>
                          <a:latin typeface="Calibri"/>
                          <a:ea typeface="+mn-ea"/>
                          <a:cs typeface="+mn-cs"/>
                        </a:rPr>
                        <a:t>openjiuwen</a:t>
                      </a:r>
                      <a:r>
                        <a:rPr sz="800" b="1" kern="1200" dirty="0">
                          <a:solidFill>
                            <a:srgbClr val="CDD6F4"/>
                          </a:solidFill>
                          <a:latin typeface="Calibri"/>
                          <a:ea typeface="+mn-ea"/>
                          <a:cs typeface="+mn-cs"/>
                        </a:rPr>
                        <a:t> harness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Primary focus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Personal AI gateway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Coding agent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Dev agent (local)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SWE agent (sandbox)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Plan-first coding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Enterprise framework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dirty="0">
                          <a:solidFill>
                            <a:srgbClr val="BAC2DE"/>
                          </a:solidFill>
                          <a:latin typeface="Calibri"/>
                        </a:rPr>
                        <a:t>Git editing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Python agent SDK (coding/SWE)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Multi-channel delivery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25+ platforms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Local-first / personal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Strong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 cloud-first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Tool policy pipeline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6-layer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3-tier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SDK-defined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Rails hooks (middleware)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Sandbox backends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Docker/SSH/OpenShell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 host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Docker default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Basic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Sub-agent spawning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Registry+lifecycle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fresh context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delegation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✅ sync + async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ACP / external harness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spawn CC/Codex/Gemini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Context compaction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full pipeline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5-layer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structured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Provider-managed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Rail-based summary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Prompt cache control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explicit boundary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Multi-provider failover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cooldown probes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Basic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Memory / RAG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hybrid BM25+vector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MCP-based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Context files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SDK-defined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✅ workspace + </a:t>
                      </a:r>
                      <a:r>
                        <a:rPr sz="800" kern="1200" dirty="0" err="1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MemoryRail</a:t>
                      </a:r>
                      <a:endParaRPr sz="800" kern="1200" dirty="0">
                        <a:solidFill>
                          <a:srgbClr val="BAC2DE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Plan-first workflow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core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Optional (plan_agent)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Prompt injection defense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adversary reviewer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Rule-based (</a:t>
                      </a:r>
                      <a:r>
                        <a:rPr sz="800" kern="1200" dirty="0" err="1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SecurityRail</a:t>
                      </a:r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ML-based approval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Sonnet classifier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Native eval / benchmarking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SWE-bench native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Partial (</a:t>
                      </a:r>
                      <a:r>
                        <a:rPr sz="800" kern="1200" dirty="0" err="1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agent_evolving</a:t>
                      </a:r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MCP depth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Basic (via mcporter)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70+ extensions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✅ Native (5 transports)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Observability / tracing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Opt-in (OTEL plugin)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Limited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Voice / multimodal I/O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TTS, voice wake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Partial (audio + vision)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Companion apps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✅ macOS/iOS/Android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BAC2DE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/>
                        <a:t>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CDD6F4"/>
                </a:solidFill>
                <a:latin typeface="Calibri"/>
              </a:rPr>
              <a:t>Where </a:t>
            </a:r>
            <a:r>
              <a:rPr sz="3000" b="1" dirty="0" err="1">
                <a:solidFill>
                  <a:srgbClr val="CDD6F4"/>
                </a:solidFill>
                <a:latin typeface="Calibri"/>
              </a:rPr>
              <a:t>OpenClaw</a:t>
            </a:r>
            <a:r>
              <a:rPr sz="3000" b="1" dirty="0">
                <a:solidFill>
                  <a:srgbClr val="CDD6F4"/>
                </a:solidFill>
                <a:latin typeface="Calibri"/>
              </a:rPr>
              <a:t> Leads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EEA102D-AAC7-4254-9F04-DBD50C2D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783367"/>
              </p:ext>
            </p:extLst>
          </p:nvPr>
        </p:nvGraphicFramePr>
        <p:xfrm>
          <a:off x="395176" y="810972"/>
          <a:ext cx="11336576" cy="5773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967">
                  <a:extLst>
                    <a:ext uri="{9D8B030D-6E8A-4147-A177-3AD203B41FA5}">
                      <a16:colId xmlns:a16="http://schemas.microsoft.com/office/drawing/2014/main" val="4271435607"/>
                    </a:ext>
                  </a:extLst>
                </a:gridCol>
                <a:gridCol w="6506609">
                  <a:extLst>
                    <a:ext uri="{9D8B030D-6E8A-4147-A177-3AD203B41FA5}">
                      <a16:colId xmlns:a16="http://schemas.microsoft.com/office/drawing/2014/main" val="604455875"/>
                    </a:ext>
                  </a:extLst>
                </a:gridCol>
              </a:tblGrid>
              <a:tr h="796583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1. Multi-Channel Message Delivery as First-Class Harness Output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No other harness in this class treats messaging platform delivery as a core output path.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The agent's response is simultaneously:</a:t>
                      </a:r>
                    </a:p>
                    <a:p>
                      <a:pPr lvl="1"/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• Streamed to the requesting WebSocket client</a:t>
                      </a:r>
                    </a:p>
                    <a:p>
                      <a:pPr lvl="1"/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• Chunked and delivered to the originating channel (WhatsApp, Telegram, Discord, …)</a:t>
                      </a:r>
                    </a:p>
                    <a:p>
                      <a:pPr lvl="1"/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• Subject to per-channel constraints (character limits, line limits, markdown rendering)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EmbeddedBlockChunker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with Markdown-fence-awareness and paragraph-preference breaking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is a harness feature unique to this class of personal assistant.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25+ platforms supported as delivery targets — none of the alternatives support even one.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032326"/>
                  </a:ext>
                </a:extLst>
              </a:tr>
              <a:tr h="796583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rgbClr val="89B4FA"/>
                          </a:solidFill>
                          <a:latin typeface="+mn-lt"/>
                          <a:ea typeface="+mn-ea"/>
                          <a:cs typeface="+mn-cs"/>
                        </a:rPr>
                        <a:t>2. ACP Harness Orchestration  (Spawn Claude Code </a:t>
                      </a:r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/ Codex as Sub-Agent)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can use Claude Code or Codex CLI as a sub-agent through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acp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-spawn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Full control plane: identity, lifecycle, policy, and stream relay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Meta-harness: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orchestrates the orchestrators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Example: WhatsApp →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→ spawns Claude Code → relays to WhatsApp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other system in 2026 has this path productized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526978"/>
                  </a:ext>
                </a:extLst>
              </a:tr>
              <a:tr h="7965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3.  Six-Layer Tool Policy Pipeline with Per-Provider and Per-Agent Granularity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Profile-level → provider-profile → global → per-provider → per-agent → group overlay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Claude Code has a 3-tier approval system; Goose has basic permission controls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None match this depth of composable policy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Unique: different tool surfaces for Anthropic vs.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OpenAI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on the same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instance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Unique: Discord group can have fewer tools than the operator's CLI session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78382"/>
                  </a:ext>
                </a:extLst>
              </a:tr>
              <a:tr h="4772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4.  Multi-Provider Failover with Semantic Failure Classification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Cooldown probe system classifies failures into distinct semantic categories: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rate_limit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· overload · billing · auth ·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auth_permanent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·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session_expired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· format · timeout ·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model_not_found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· unknown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Different cooldown and probe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behaviours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applied per category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Most semantically complete failure taxonomy in any open-source harness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3668"/>
                  </a:ext>
                </a:extLst>
              </a:tr>
              <a:tr h="7965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5.  Session Serialization per Lane with Queue Modes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Handles the hard concurrency problem most harnesses ignore: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What happens when a new message arrives while the agent is mid-run?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collect   — buffer incoming messages; replay after run completes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steer     — inject new message mid-run to actively steer the agent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followup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— queue as next run after current finishes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Explicit and configurable per channel — most harnesses simply queue or drop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11206"/>
                  </a:ext>
                </a:extLst>
              </a:tr>
              <a:tr h="3819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6.  Sandbox Backend Pluggability with Three Backends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Docker / SSH /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OpenShell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as interchangeable sandbox backends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Per-session vs. per-agent vs. shared scoping — more flexible than any comparable system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OpenHands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reversed to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LocalWorkspace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-by-default in V1 SDK redesign due to Docker friction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had this configurability from the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83613"/>
                  </a:ext>
                </a:extLst>
              </a:tr>
              <a:tr h="7965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9B4FA"/>
                          </a:solidFill>
                          <a:latin typeface="+mn-lt"/>
                        </a:rPr>
                        <a:t>7.  Explicit Prompt Cache Boundary in System Prompt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&lt;!-- OPENCLAW_CACHE_BOUNDARY --&gt; approach to preserving KV-cache across turns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More operationally disciplined than Claude Code's implicit approach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Claude Code re-reads CLAUDE.md on every turn → creates cache pressure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Entire build system oriented around keeping the stable prefix stable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Deterministic ordering for maps/sets/registries/plugin lists before model payloads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24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CDD6F4"/>
                </a:solidFill>
                <a:latin typeface="Calibri"/>
              </a:rPr>
              <a:t>Where </a:t>
            </a:r>
            <a:r>
              <a:rPr sz="3000" b="1" dirty="0" err="1">
                <a:solidFill>
                  <a:srgbClr val="CDD6F4"/>
                </a:solidFill>
                <a:latin typeface="Calibri"/>
              </a:rPr>
              <a:t>OpenClaw</a:t>
            </a:r>
            <a:r>
              <a:rPr sz="3000" b="1" dirty="0">
                <a:solidFill>
                  <a:srgbClr val="CDD6F4"/>
                </a:solidFill>
                <a:latin typeface="Calibri"/>
              </a:rPr>
              <a:t> </a:t>
            </a:r>
            <a:r>
              <a:rPr lang="en-US" sz="3000" b="1" dirty="0">
                <a:solidFill>
                  <a:srgbClr val="CDD6F4"/>
                </a:solidFill>
                <a:latin typeface="Calibri"/>
              </a:rPr>
              <a:t>Is Behind - part1</a:t>
            </a:r>
            <a:endParaRPr sz="3000" b="1" dirty="0">
              <a:solidFill>
                <a:srgbClr val="CDD6F4"/>
              </a:solidFill>
              <a:latin typeface="Calibri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EEA102D-AAC7-4254-9F04-DBD50C2D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88472"/>
              </p:ext>
            </p:extLst>
          </p:nvPr>
        </p:nvGraphicFramePr>
        <p:xfrm>
          <a:off x="395176" y="810972"/>
          <a:ext cx="1133657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967">
                  <a:extLst>
                    <a:ext uri="{9D8B030D-6E8A-4147-A177-3AD203B41FA5}">
                      <a16:colId xmlns:a16="http://schemas.microsoft.com/office/drawing/2014/main" val="4271435607"/>
                    </a:ext>
                  </a:extLst>
                </a:gridCol>
                <a:gridCol w="6506609">
                  <a:extLst>
                    <a:ext uri="{9D8B030D-6E8A-4147-A177-3AD203B41FA5}">
                      <a16:colId xmlns:a16="http://schemas.microsoft.com/office/drawing/2014/main" val="604455875"/>
                    </a:ext>
                  </a:extLst>
                </a:gridCol>
              </a:tblGrid>
              <a:tr h="62933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1.  No ML-Based Tool Approval Classifier</a:t>
                      </a:r>
                    </a:p>
                    <a:p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Claude Code (March 2026): Sonnet-based background classifier evaluates borderline tool requests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Determines if file:write to a production config needs approval vs. can proceed silently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OpenClaw's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approval system is rule-based: explicit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allowlists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,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denylists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, and the elevated flag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No ML-based judgment layer — no automated classifier for borderline cases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Gap: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/agents/bash-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tools.exec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-approval-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request.ts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shows human-in-the-loop flow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032326"/>
                  </a:ext>
                </a:extLst>
              </a:tr>
              <a:tr h="74039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2.  No Plan-First / Structured Task Decomposition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Plandex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: shows plan before executing — operator can review and modify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Claude Code 'thinking' mode: surfaces intermediate reasoning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has /think level setting but no native plan-present-then-approve workflow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openjiuwen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harness: ships optional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plan_agent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subagent +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TaskPlanningRail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— plan-first is available mode, not default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Gap: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openclaw-tools.update-plan.test.ts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—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update_plan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tool exists but not a harness gate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It is a tool the model can optionally call, not a required first-class checkpoint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526978"/>
                  </a:ext>
                </a:extLst>
              </a:tr>
              <a:tr h="74039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3.  No Adversary Reviewer / Prompt Injection Detection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Goose ships an adversary reviewer watching tool calls for prompt injection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Example: file contains 'SYSTEM: ignore previous instructions' → agent reads it → acts on it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has no equivalent detector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All 25+ channels are inbound attack surfaces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DM pairing stops unknown senders — but approved senders can still inject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Nothing in the harness detects or mitigates prompt injection at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78382"/>
                  </a:ext>
                </a:extLst>
              </a:tr>
              <a:tr h="8514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4.  MCP Is an Afterthought, Not a First-Class Citizen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Goose: MCP-native with 70+ documented extensions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Claude Code: integrates MCP directly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: delegates MCP to external bridge (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mcporter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); VISION.md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deprioritises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it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openjiuwen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harness: native MCP with 5 transports (SSE,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Stdio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,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StreamableHTTP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, Playwright,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OpenAPI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) +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ToolMgr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hot-reload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/agents/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mcp-stdio.ts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,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mcp-http.ts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— support exists but no server discovery or hot-reload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No per-session MCP server configuration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Bridge model works but creates a dependency on an external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3668"/>
                  </a:ext>
                </a:extLst>
              </a:tr>
              <a:tr h="8269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5.  Context Window Budget Is Reactive, Not Predictive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compacts after overflow is detected — not before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Claude Code: 5-layer compaction pipeline includes predictive triggers at ~98% token usage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has no pre-emption — waits until runner sees context error, then compacts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/agents/context-window-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guard.ts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guards at gateway RPC level only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Does not control compaction timing within a run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Compaction triggered by pi-agent-core runtime hitting limits, not a predictive budget tracker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11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493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CDD6F4"/>
                </a:solidFill>
                <a:latin typeface="Calibri"/>
              </a:rPr>
              <a:t>Where </a:t>
            </a:r>
            <a:r>
              <a:rPr sz="3000" b="1" dirty="0" err="1">
                <a:solidFill>
                  <a:srgbClr val="CDD6F4"/>
                </a:solidFill>
                <a:latin typeface="Calibri"/>
              </a:rPr>
              <a:t>OpenClaw</a:t>
            </a:r>
            <a:r>
              <a:rPr sz="3000" b="1" dirty="0">
                <a:solidFill>
                  <a:srgbClr val="CDD6F4"/>
                </a:solidFill>
                <a:latin typeface="Calibri"/>
              </a:rPr>
              <a:t> </a:t>
            </a:r>
            <a:r>
              <a:rPr lang="en-US" sz="3000" b="1" dirty="0">
                <a:solidFill>
                  <a:srgbClr val="CDD6F4"/>
                </a:solidFill>
                <a:latin typeface="Calibri"/>
              </a:rPr>
              <a:t>Is Behind - part2</a:t>
            </a:r>
            <a:endParaRPr sz="3000" b="1" dirty="0">
              <a:solidFill>
                <a:srgbClr val="CDD6F4"/>
              </a:solidFill>
              <a:latin typeface="Calibri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EEA102D-AAC7-4254-9F04-DBD50C2D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247875"/>
              </p:ext>
            </p:extLst>
          </p:nvPr>
        </p:nvGraphicFramePr>
        <p:xfrm>
          <a:off x="395176" y="810972"/>
          <a:ext cx="11336576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967">
                  <a:extLst>
                    <a:ext uri="{9D8B030D-6E8A-4147-A177-3AD203B41FA5}">
                      <a16:colId xmlns:a16="http://schemas.microsoft.com/office/drawing/2014/main" val="4271435607"/>
                    </a:ext>
                  </a:extLst>
                </a:gridCol>
                <a:gridCol w="6506609">
                  <a:extLst>
                    <a:ext uri="{9D8B030D-6E8A-4147-A177-3AD203B41FA5}">
                      <a16:colId xmlns:a16="http://schemas.microsoft.com/office/drawing/2014/main" val="604455875"/>
                    </a:ext>
                  </a:extLst>
                </a:gridCol>
              </a:tblGrid>
              <a:tr h="629338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6.  No Native Eval / Benchmark Harness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OpenHands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was purpose-built with SWE-bench evaluation in mind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Claude Code is benchmarked on Terminal-Bench 2.0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: no built-in structured task set, output comparison, or regression measurement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qa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/, extensions/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qa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-channel/, extensions/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qa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-lab/, extensions/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qa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-matrix/ exist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but are explicitly excluded from the published 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npm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package — internal QA tools, not public eval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032326"/>
                  </a:ext>
                </a:extLst>
              </a:tr>
              <a:tr h="74039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7.  Sub-Agent Communication Is Announcement-Based, Not Protocol-Based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Child posts completion announcement; parent polls or waits (subagent-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announce.ts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No shared memory namespace, no typed message passing, no bidirectional parent-child channel</a:t>
                      </a:r>
                    </a:p>
                    <a:p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openjiuwen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harness: explicit sync (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SubagentRail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) + async (</a:t>
                      </a:r>
                      <a:r>
                        <a:rPr lang="en-US" sz="9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SessionRail</a:t>
                      </a:r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) delegation modes — typed, mode-aware channels to each child</a:t>
                      </a:r>
                    </a:p>
                    <a:p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If parent spawns three sub-agents in parallel on different files:</a:t>
                      </a:r>
                    </a:p>
                    <a:p>
                      <a:pPr lvl="1"/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• No mechanism for sub-agents to coordinate with each other</a:t>
                      </a:r>
                    </a:p>
                    <a:p>
                      <a:pPr lvl="1"/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• No mechanism for parent to steer a running sub-agent mid-task</a:t>
                      </a:r>
                    </a:p>
                    <a:p>
                      <a:pPr lvl="1"/>
                      <a:r>
                        <a:rPr lang="en-US" sz="900" b="0" dirty="0">
                          <a:solidFill>
                            <a:srgbClr val="BAC2DE"/>
                          </a:solidFill>
                          <a:latin typeface="+mn-lt"/>
                        </a:rPr>
                        <a:t>  • Only the steer queue mode offers indirect steering, not direct inter-agent protocol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526978"/>
                  </a:ext>
                </a:extLst>
              </a:tr>
              <a:tr h="74039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8.  No Reproducibility / Replay Mode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built-in way to replay a session with the same tool outcomes for debugging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Session transcripts are JSONL files: ~/.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/agents/*/sessions/*.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jsonl</a:t>
                      </a:r>
                      <a:endParaRPr lang="en-US" sz="900" dirty="0">
                        <a:solidFill>
                          <a:srgbClr val="BAC2DE"/>
                        </a:solidFill>
                        <a:latin typeface="+mn-lt"/>
                      </a:endParaRP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Could theoretically be replayed, but no harness-level support exists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'run this session again in deterministic mode' capability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All other major harnesses also lack this — but it remains a gap for debugging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78382"/>
                  </a:ext>
                </a:extLst>
              </a:tr>
              <a:tr h="85145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9.  No Computer-Use Loop as First-Class Primitive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Claude can use computers (screenshot → OCR → click/type) as a native capability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OpenHands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: browser automation built-in with proper perception-action loop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: browser tools via browser extension and CDP — but not a first-class harness loop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native harness loop: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screen.capture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→ model inference → input action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macOS companion can capture screens via node capabilities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but wiring into an agentic loop requires custom skill or plugin 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3668"/>
                  </a:ext>
                </a:extLst>
              </a:tr>
              <a:tr h="82694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38BA8"/>
                          </a:solidFill>
                          <a:latin typeface="+mn-lt"/>
                        </a:rPr>
                        <a:t>10.  Observability Is Opt-In and Incomplete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Claude Code 2026: session tracing baked in by default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: extensions/diagnostics-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otel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/ plugin for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OpenTelemetry</a:t>
                      </a:r>
                      <a:endParaRPr lang="en-US" sz="900" dirty="0">
                        <a:solidFill>
                          <a:srgbClr val="BAC2DE"/>
                        </a:solidFill>
                        <a:latin typeface="+mn-lt"/>
                      </a:endParaRPr>
                    </a:p>
                    <a:p>
                      <a:pPr lvl="1"/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• Opt-in — not enabled by default</a:t>
                      </a:r>
                    </a:p>
                    <a:p>
                      <a:pPr lvl="1"/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• Plugin-based — not in core harness</a:t>
                      </a:r>
                    </a:p>
                    <a:p>
                      <a:pPr lvl="1"/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 • Not connected to sub-agent spans — no distributed trace across spawned sessions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built-in answer to: 'why did this run take 45 seconds?' or 'which tool was the bottleneck?'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11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50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CDD6F4"/>
                </a:solidFill>
                <a:latin typeface="Calibri"/>
              </a:rPr>
              <a:t>Topics Absent from </a:t>
            </a:r>
            <a:r>
              <a:rPr lang="en-US" sz="3000" b="1" dirty="0" err="1">
                <a:solidFill>
                  <a:srgbClr val="CDD6F4"/>
                </a:solidFill>
                <a:latin typeface="Calibri"/>
              </a:rPr>
              <a:t>OpenClaw's</a:t>
            </a:r>
            <a:r>
              <a:rPr lang="en-US" sz="3000" b="1" dirty="0">
                <a:solidFill>
                  <a:srgbClr val="CDD6F4"/>
                </a:solidFill>
                <a:latin typeface="Calibri"/>
              </a:rPr>
              <a:t> Harness Entirely</a:t>
            </a:r>
            <a:endParaRPr sz="3000" b="1" dirty="0">
              <a:solidFill>
                <a:srgbClr val="CDD6F4"/>
              </a:solidFill>
              <a:latin typeface="Calibri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EEA102D-AAC7-4254-9F04-DBD50C2D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00641"/>
              </p:ext>
            </p:extLst>
          </p:nvPr>
        </p:nvGraphicFramePr>
        <p:xfrm>
          <a:off x="395176" y="810972"/>
          <a:ext cx="11336576" cy="5293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967">
                  <a:extLst>
                    <a:ext uri="{9D8B030D-6E8A-4147-A177-3AD203B41FA5}">
                      <a16:colId xmlns:a16="http://schemas.microsoft.com/office/drawing/2014/main" val="4271435607"/>
                    </a:ext>
                  </a:extLst>
                </a:gridCol>
                <a:gridCol w="6506609">
                  <a:extLst>
                    <a:ext uri="{9D8B030D-6E8A-4147-A177-3AD203B41FA5}">
                      <a16:colId xmlns:a16="http://schemas.microsoft.com/office/drawing/2014/main" val="604455875"/>
                    </a:ext>
                  </a:extLst>
                </a:gridCol>
              </a:tblGrid>
              <a:tr h="62933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A. Structured Diff Review Before Commit</a:t>
                      </a:r>
                      <a:endParaRPr lang="en-US" sz="1200" b="1" dirty="0">
                        <a:solidFill>
                          <a:srgbClr val="F38BA8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Plandex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and Claude Code: staged-changes review — show all planned file edits as unified diff before applying anything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: extensions/diffs/ exists — but no harness-level 'show plan, wait, then apply' workflow</a:t>
                      </a:r>
                      <a:endParaRPr lang="en-US" sz="900" b="0" dirty="0">
                        <a:solidFill>
                          <a:srgbClr val="BAC2DE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032326"/>
                  </a:ext>
                </a:extLst>
              </a:tr>
              <a:tr h="74039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B.  Git-Native Context  (Aider-style)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Aider: git repo as primary context — git blame, structured commit formats, branch management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: can read/write files; no first-class git awareness in the harness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automatic context enrichment from git history, no commit generation as harness primitive</a:t>
                      </a:r>
                      <a:endParaRPr lang="en-US" sz="900" b="0" dirty="0">
                        <a:solidFill>
                          <a:srgbClr val="BAC2DE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526978"/>
                  </a:ext>
                </a:extLst>
              </a:tr>
              <a:tr h="74039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C.  Long-Horizon Task Graphs / Workflow Engine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docs/automation/taskflow.md and clawflow.md suggest nascent primitives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stable first-class mechanism comparable to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LangGraph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CrewAI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, or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Plandex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plans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multi-step task graph that survives session restart with human checkpoints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78382"/>
                  </a:ext>
                </a:extLst>
              </a:tr>
              <a:tr h="8514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D.  Session Cloning / Forking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Research harnesses: fork session at a point → explore two approaches → merge results</a:t>
                      </a:r>
                    </a:p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: sub-agent spawning exists — but not session forking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Once a run path is taken, no mechanism to try an alternative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3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E.  Structured Tool Output Schemas with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Model returns tool arguments as JSON;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validates them at the tool level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harness-level tool output schema — if bash returns garbled output, harness accepts it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structured contract on what a tool result must look like before transcript write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112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F.  Cost Tracking and Budget Enforcement</a:t>
                      </a:r>
                    </a:p>
                    <a:p>
                      <a:pPr algn="l"/>
                      <a:endParaRPr lang="en-US" sz="1200" b="1" dirty="0">
                        <a:solidFill>
                          <a:srgbClr val="F38BA8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harness-level spending limit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Token usage visible after a run (/usage command) but no pre-run gate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maxUsdPerRun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maxTokensPerSession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, or </a:t>
                      </a:r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monthlyBudgetAlert</a:t>
                      </a:r>
                      <a:endParaRPr lang="en-US" sz="900" dirty="0">
                        <a:solidFill>
                          <a:srgbClr val="BAC2DE"/>
                        </a:solidFill>
                        <a:latin typeface="+mn-lt"/>
                      </a:endParaRP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Common ask for personal AI assistants running autonomously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8427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G.  Collaborative / Multi-Operator Sessions</a:t>
                      </a:r>
                    </a:p>
                    <a:p>
                      <a:pPr algn="l"/>
                      <a:endParaRPr lang="en-US" sz="1200" b="1" dirty="0">
                        <a:solidFill>
                          <a:srgbClr val="F38BA8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solidFill>
                            <a:srgbClr val="BAC2DE"/>
                          </a:solidFill>
                          <a:latin typeface="+mn-lt"/>
                        </a:rPr>
                        <a:t>OpenClaw</a:t>
                      </a:r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 is strictly single-operator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mechanism for two humans to simultaneously be in the same agent session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shared observation, collaborative message injection, or joint approvals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4957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BAC2DE"/>
                          </a:solidFill>
                          <a:latin typeface="+mn-lt"/>
                        </a:rPr>
                        <a:t>H.  Automated Knowledge Graph / Entity Extraction from Memory</a:t>
                      </a:r>
                      <a:endParaRPr lang="en-US" sz="1200" b="1" dirty="0">
                        <a:solidFill>
                          <a:srgbClr val="F38BA8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Memory system (hybrid BM25+vector) treats notes as free-form text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No automatic extraction of entities (people, projects, credentials, preferences) into a structured knowledge graph that the harness can query directly</a:t>
                      </a:r>
                    </a:p>
                    <a:p>
                      <a:r>
                        <a:rPr lang="en-US" sz="900" dirty="0">
                          <a:solidFill>
                            <a:srgbClr val="BAC2DE"/>
                          </a:solidFill>
                          <a:latin typeface="+mn-lt"/>
                        </a:rPr>
                        <a:t>Tools like Mem0 and some Letta configurations do this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152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4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OpenClaw's Unique Architectural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073" y="68580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AC2DE"/>
                </a:solidFill>
                <a:latin typeface="Calibri"/>
              </a:rPr>
              <a:t>Most of the above 'weaknesses' are design trade-offs, not failures. </a:t>
            </a:r>
            <a:r>
              <a:rPr sz="14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400" dirty="0">
                <a:solidFill>
                  <a:srgbClr val="BAC2DE"/>
                </a:solidFill>
                <a:latin typeface="Calibri"/>
              </a:rPr>
              <a:t> is not primarily a coding agent harness.
</a:t>
            </a:r>
            <a:r>
              <a:rPr sz="14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sz="1400" dirty="0">
                <a:solidFill>
                  <a:srgbClr val="BAC2DE"/>
                </a:solidFill>
                <a:latin typeface="Calibri"/>
              </a:rPr>
              <a:t> distinguishing bet: the assistant should live in your existing communication channels, not in a new terminal tab. This shapes every harness decision — streaming delivery constraints matter more than diff previews; DM pairing matters more than eval harnesses; multi-channel routing matters more than MCP depth.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928001"/>
              </p:ext>
            </p:extLst>
          </p:nvPr>
        </p:nvGraphicFramePr>
        <p:xfrm>
          <a:off x="402199" y="2096244"/>
          <a:ext cx="1127455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9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DD6F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DD6F4"/>
                          </a:solidFill>
                          <a:latin typeface="Calibri"/>
                        </a:rPr>
                        <a:t>Primary User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DD6F4"/>
                          </a:solidFill>
                          <a:latin typeface="Calibri"/>
                        </a:rPr>
                        <a:t>Primary Task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Claude Code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Developer in terminal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Write / modify code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Goose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Developer on machine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General compute tasks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Plandex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Developer with long tasks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Multi-file feature work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kern="1200" dirty="0" err="1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OpenHands</a:t>
                      </a:r>
                      <a:endParaRPr sz="1300" kern="1200" dirty="0">
                        <a:solidFill>
                          <a:srgbClr val="BAC2DE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Researcher / evaluator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kern="120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SWE tasks in sandbox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3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openjiuwen harness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Python developer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kern="1200" dirty="0">
                          <a:solidFill>
                            <a:srgbClr val="BAC2DE"/>
                          </a:solidFill>
                          <a:latin typeface="Calibri"/>
                          <a:ea typeface="+mn-ea"/>
                          <a:cs typeface="+mn-cs"/>
                        </a:rPr>
                        <a:t>Long-running coding / SWE agent tasks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OpenClaw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Non-developer + developer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BAC2DE"/>
                          </a:solidFill>
                          <a:latin typeface="Calibri"/>
                        </a:rPr>
                        <a:t>Personal assistant via messaging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Developer Verdict: What to Contribute 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164031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5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Contribution Path</a:t>
                      </a:r>
                    </a:p>
                  </a:txBody>
                  <a:tcPr>
                    <a:solidFill>
                      <a:srgbClr val="31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Prompt injection detection in inbound channel messages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Hook at message_received; classify before routing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Cost budget / spending limits per run or per session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Config + gateway check before accepting agent runs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ML-based approval classifier for borderline tool calls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before_tool_call hook + small model inference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Predictive compaction trigger at ~90% token budget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Context budget tracking in the run loop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Structured span tracing (timing per run phase)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OTEL instrumentation in pi-embedded-runner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Plan-first mode (optional gate before tool execution starts)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New run mode + update_plan as required first tool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Session replay / deterministic mode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Session transcript player using cached tool results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Cost accounting in session metadata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Token-to-USD conversion + per-session accumulator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Entity extraction from memory notes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BAC2DE"/>
                          </a:solidFill>
                          <a:latin typeface="Calibri"/>
                        </a:rPr>
                        <a:t>Post-write hook in memory plugin → knowledge graph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Sources Consulted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BAC2DE"/>
                </a:solidFill>
                <a:latin typeface="Calibri"/>
              </a:rPr>
              <a:t>1.  Claude Code vs Codex CLI vs Aider vs OpenCode vs Pi vs Cursor (2026) — thoughts.jock.pl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2.  Coding Agents Comparison: Cursor, Claude Code, GitHub Copilot, and more — artificialanalysis.ai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3.  Agentic Harness — OpenClaw, Claude Code, and More — solomonchristai.substack.com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4.  OpenHarness: Open Agent Harness (HKUDS) — github.com/HKUDS/OpenHarness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5.  Goose — Your Open Source AI Agent — goose-docs.ai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6.  OpenHands Review 2026 — aiagentslist.com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7.  Dive into Claude Code: Design Space of AI Agent Systems (arXiv 2604.14228)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8.  Claude Code Architecture Breakdown (WaveSpeedAI) — wavespeed.ai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9.  Claude Managed Agents overview (Anthropic) — platform.claude.com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10. OpenAI Agents SDK — April 2026 Update — openlinksw.com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11. Top AI Agent Harness Tools 2026 (Atlan) — atlan.com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12. Coding Agent Harnesses — Comparative Overview 2026 — GitHub Gist</a:t>
            </a:r>
          </a:p>
          <a:p>
            <a:r>
              <a:rPr sz="1400">
                <a:solidFill>
                  <a:srgbClr val="BAC2DE"/>
                </a:solidFill>
                <a:latin typeface="Calibri"/>
              </a:rPr>
              <a:t>13. OpenClaw source code: src/agents/, src/acp/, src/security/, src/routing/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3700</Words>
  <Application>Microsoft Office PowerPoint</Application>
  <PresentationFormat>Custom</PresentationFormat>
  <Paragraphs>536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Atamuk (A)</cp:lastModifiedBy>
  <cp:revision>40</cp:revision>
  <dcterms:created xsi:type="dcterms:W3CDTF">2013-01-27T09:14:16Z</dcterms:created>
  <dcterms:modified xsi:type="dcterms:W3CDTF">2026-04-24T08:46:05Z</dcterms:modified>
  <cp:category/>
</cp:coreProperties>
</file>