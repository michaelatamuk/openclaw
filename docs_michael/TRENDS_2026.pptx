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74" r:id="rId12"/>
    <p:sldId id="275" r:id="rId13"/>
    <p:sldId id="276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DD6F4"/>
                </a:solidFill>
                <a:latin typeface="Calibri"/>
              </a:rPr>
              <a:t>OpenClaw vs. 2026 Agent Industry Trends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3200400"/>
            <a:ext cx="9445752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3383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BAC2DE"/>
                </a:solidFill>
                <a:latin typeface="Calibri"/>
              </a:rPr>
              <a:t>Analysis of how OpenClaw addresses — or does not address — eight major trends identified in the 2026 AI agent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086"/>
                </a:solidFill>
                <a:latin typeface="Calibri"/>
              </a:rPr>
              <a:t>Document prepared: 2026-04-21  |  Based on OpenClaw v2026.4.20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Summary: 8 Trends Coverage at a Glance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9B4FA"/>
                          </a:solidFill>
                          <a:latin typeface="Calibri"/>
                        </a:rPr>
                        <a:t>2026 Trend</a:t>
                      </a:r>
                    </a:p>
                  </a:txBody>
                  <a:tcPr>
                    <a:solidFill>
                      <a:srgbClr val="18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9B4FA"/>
                          </a:solidFill>
                          <a:latin typeface="Calibri"/>
                        </a:rPr>
                        <a:t>OpenClaw Coverage</a:t>
                      </a:r>
                    </a:p>
                  </a:txBody>
                  <a:tcPr>
                    <a:solidFill>
                      <a:srgbClr val="18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9B4FA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8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Harnessing Agents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Gateway as centralized intelligence; thin clients (apps, IDEs, channels) call in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Strong — for personal scope; partial for enterprise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Agent Substrate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Remove the Gateway and all companion apps, channel bots, plugins lose intelligence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Strong — for single-user deployments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Self-Refining Systems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Memory accumulates; doctor self-repairs config; no autonomous skill evolution loop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Weak — data-level adaptation only, not behavioral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Ambient Agents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Always-on daemon, voice wake, real browser with cookies, cron, multi-channel, device nodes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Strong — one of OpenClaw's clearest differentiators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Executable Intelligence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Gateway protocol and HTTP APIs are fully schema-typed JSON; channel delivery is natural language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Partial — structured at API boundary, unstructured at delivery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Business-Native Agents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Agent IS the domain logic for the personal assistant domain; companion apps are pure UI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Partial — true for personal assistant; not the design for enterprise apps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Agentic Operating Layers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Gateway sits exactly between UI (messaging, apps, IDEs) and system (tools, providers, devices)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Strong — this is OpenClaw's architectural identity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Autonomous Verticalization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Architecture is domain-agnostic; multi-agent routing enables specialization via plugins+skills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AC2DE"/>
                          </a:solidFill>
                          <a:latin typeface="Calibri"/>
                        </a:rPr>
                        <a:t>Partial — zero architectural changes, but non-zero configuration work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595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CDD6F4"/>
                </a:solidFill>
                <a:latin typeface="Calibri"/>
              </a:rPr>
              <a:t>Trend 1: Harnessing Agents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46717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50807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 dirty="0">
                <a:solidFill>
                  <a:srgbClr val="89B4FA"/>
                </a:solidFill>
                <a:latin typeface="Calibri"/>
              </a:rPr>
              <a:t>THE TREND</a:t>
            </a:r>
            <a:r>
              <a:rPr sz="1400" b="1" dirty="0">
                <a:solidFill>
                  <a:srgbClr val="89B4FA"/>
                </a:solidFill>
                <a:latin typeface="Calibri"/>
              </a:rPr>
              <a:t>: </a:t>
            </a:r>
            <a:r>
              <a:rPr sz="1400" dirty="0">
                <a:solidFill>
                  <a:srgbClr val="BAC2DE"/>
                </a:solidFill>
                <a:latin typeface="Calibri"/>
              </a:rPr>
              <a:t>Intelligence is centralized in the agent. Clients are thin — they send structured prompts and accumulated context, and the agent performs all domain reasoning on demand. The client has no intelligence of its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94598"/>
            <a:ext cx="62179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1" dirty="0">
                <a:solidFill>
                  <a:srgbClr val="CDD6F4"/>
                </a:solidFill>
                <a:latin typeface="Calibri"/>
              </a:rPr>
              <a:t>The Gateway is the undisputed center of gravity. Every client in the ecosystem is thin</a:t>
            </a:r>
          </a:p>
          <a:p>
            <a:pPr>
              <a:spcBef>
                <a:spcPts val="400"/>
              </a:spcBef>
            </a:pPr>
            <a:r>
              <a:rPr sz="1300" b="1" dirty="0">
                <a:solidFill>
                  <a:srgbClr val="CDD6F4"/>
                </a:solidFill>
                <a:latin typeface="Calibri"/>
              </a:rPr>
              <a:t>Companion apps are pure UI shells</a:t>
            </a:r>
            <a:r>
              <a:rPr lang="en-US" sz="13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sz="1000" dirty="0">
                <a:solidFill>
                  <a:srgbClr val="BAC2DE"/>
                </a:solidFill>
                <a:latin typeface="Calibri"/>
              </a:rPr>
              <a:t>The macOS, iOS, and Android nodes have no AI reasoning. They send messages to the Gateway via WebSocket and render what comes back.</a:t>
            </a:r>
          </a:p>
          <a:p>
            <a:pPr>
              <a:spcBef>
                <a:spcPts val="400"/>
              </a:spcBef>
            </a:pPr>
            <a:r>
              <a:rPr sz="1300" b="1" dirty="0">
                <a:solidFill>
                  <a:srgbClr val="CDD6F4"/>
                </a:solidFill>
                <a:latin typeface="Calibri"/>
              </a:rPr>
              <a:t>Messaging channels are thinner still</a:t>
            </a:r>
            <a:r>
              <a:rPr lang="en-US" sz="13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sz="1000" dirty="0">
                <a:solidFill>
                  <a:srgbClr val="BAC2DE"/>
                </a:solidFill>
                <a:latin typeface="Calibri"/>
              </a:rPr>
              <a:t>WhatsApp, Telegram, Slack — delivery pipes only. The channel plugin forwards to the Gateway; the Gateway reasons and routes the reply back.</a:t>
            </a:r>
          </a:p>
          <a:p>
            <a:pPr>
              <a:spcBef>
                <a:spcPts val="400"/>
              </a:spcBef>
            </a:pPr>
            <a:r>
              <a:rPr sz="1300" b="1" dirty="0">
                <a:solidFill>
                  <a:srgbClr val="CDD6F4"/>
                </a:solidFill>
                <a:latin typeface="Calibri"/>
              </a:rPr>
              <a:t>IDEs connect as ACP thin clients</a:t>
            </a:r>
            <a:r>
              <a:rPr lang="en-US" sz="13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sz="1000" dirty="0">
                <a:solidFill>
                  <a:srgbClr val="BAC2DE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BAC2DE"/>
                </a:solidFill>
                <a:latin typeface="Calibri"/>
              </a:rPr>
              <a:t>acp</a:t>
            </a:r>
            <a:r>
              <a:rPr sz="1000" dirty="0">
                <a:solidFill>
                  <a:srgbClr val="BAC2DE"/>
                </a:solidFill>
                <a:latin typeface="Calibri"/>
              </a:rPr>
              <a:t> lets an IDE connect to the Gateway over </a:t>
            </a:r>
            <a:r>
              <a:rPr sz="1000" dirty="0" err="1">
                <a:solidFill>
                  <a:srgbClr val="BAC2DE"/>
                </a:solidFill>
                <a:latin typeface="Calibri"/>
              </a:rPr>
              <a:t>stdio</a:t>
            </a:r>
            <a:r>
              <a:rPr sz="1000" dirty="0">
                <a:solidFill>
                  <a:srgbClr val="BAC2DE"/>
                </a:solidFill>
                <a:latin typeface="Calibri"/>
              </a:rPr>
              <a:t>. The IDE provides the editor surface; the Gateway provides all intelligence.</a:t>
            </a:r>
          </a:p>
          <a:p>
            <a:pPr>
              <a:spcBef>
                <a:spcPts val="400"/>
              </a:spcBef>
            </a:pPr>
            <a:r>
              <a:rPr sz="1300" b="1" dirty="0">
                <a:solidFill>
                  <a:srgbClr val="CDD6F4"/>
                </a:solidFill>
                <a:latin typeface="Calibri"/>
              </a:rPr>
              <a:t>Any </a:t>
            </a:r>
            <a:r>
              <a:rPr sz="1300" b="1" dirty="0" err="1">
                <a:solidFill>
                  <a:srgbClr val="CDD6F4"/>
                </a:solidFill>
                <a:latin typeface="Calibri"/>
              </a:rPr>
              <a:t>OpenAI</a:t>
            </a:r>
            <a:r>
              <a:rPr sz="1300" b="1" dirty="0">
                <a:solidFill>
                  <a:srgbClr val="CDD6F4"/>
                </a:solidFill>
                <a:latin typeface="Calibri"/>
              </a:rPr>
              <a:t>-compatible tool becomes a thin client</a:t>
            </a:r>
            <a:r>
              <a:rPr lang="en-US" sz="13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sz="1000" dirty="0">
                <a:solidFill>
                  <a:srgbClr val="BAC2DE"/>
                </a:solidFill>
                <a:latin typeface="Calibri"/>
              </a:rPr>
              <a:t>The Gateway exposes /v1/chat/completions and /v1/responses. </a:t>
            </a:r>
            <a:r>
              <a:rPr sz="1000" dirty="0" err="1">
                <a:solidFill>
                  <a:srgbClr val="BAC2DE"/>
                </a:solidFill>
                <a:latin typeface="Calibri"/>
              </a:rPr>
              <a:t>LangChain</a:t>
            </a:r>
            <a:r>
              <a:rPr sz="1000" dirty="0">
                <a:solidFill>
                  <a:srgbClr val="BAC2DE"/>
                </a:solidFill>
                <a:latin typeface="Calibri"/>
              </a:rPr>
              <a:t> apps, </a:t>
            </a:r>
            <a:r>
              <a:rPr sz="1000" dirty="0" err="1">
                <a:solidFill>
                  <a:srgbClr val="BAC2DE"/>
                </a:solidFill>
                <a:latin typeface="Calibri"/>
              </a:rPr>
              <a:t>LiteLLM</a:t>
            </a:r>
            <a:r>
              <a:rPr sz="1000" dirty="0">
                <a:solidFill>
                  <a:srgbClr val="BAC2DE"/>
                </a:solidFill>
                <a:latin typeface="Calibri"/>
              </a:rPr>
              <a:t> proxies can call </a:t>
            </a:r>
            <a:r>
              <a:rPr sz="10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sz="1000" dirty="0">
                <a:solidFill>
                  <a:srgbClr val="BAC2DE"/>
                </a:solidFill>
                <a:latin typeface="Calibri"/>
              </a:rPr>
              <a:t> Gateway as a drop-in.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2803" y="925746"/>
            <a:ext cx="5029200" cy="2972486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4243" y="971466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89B4FA"/>
                </a:solidFill>
                <a:latin typeface="Courier New"/>
              </a:rPr>
              <a:t>Thin clients:</a:t>
            </a:r>
          </a:p>
          <a:p>
            <a:endParaRPr sz="1100" dirty="0">
              <a:solidFill>
                <a:srgbClr val="89B4FA"/>
              </a:solidFill>
              <a:latin typeface="Courier New"/>
            </a:endParaRP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iOS App</a:t>
            </a: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  -&gt; WebSocket</a:t>
            </a: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  -&gt; Gateway (intelligence)</a:t>
            </a:r>
          </a:p>
          <a:p>
            <a:endParaRPr sz="1100" dirty="0">
              <a:solidFill>
                <a:srgbClr val="89B4FA"/>
              </a:solidFill>
              <a:latin typeface="Courier New"/>
            </a:endParaRP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Telegram</a:t>
            </a: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  -&gt; channel plugin</a:t>
            </a: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  -&gt; Gateway (intelligence)</a:t>
            </a:r>
          </a:p>
          <a:p>
            <a:endParaRPr sz="1100" dirty="0">
              <a:solidFill>
                <a:srgbClr val="89B4FA"/>
              </a:solidFill>
              <a:latin typeface="Courier New"/>
            </a:endParaRP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VS Code</a:t>
            </a: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  -&gt; ACP</a:t>
            </a: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  -&gt; Gateway (intelligence)</a:t>
            </a:r>
          </a:p>
          <a:p>
            <a:endParaRPr sz="1100" dirty="0">
              <a:solidFill>
                <a:srgbClr val="89B4FA"/>
              </a:solidFill>
              <a:latin typeface="Courier New"/>
            </a:endParaRP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curl /v1/chat/completions</a:t>
            </a:r>
          </a:p>
          <a:p>
            <a:r>
              <a:rPr sz="1100" dirty="0">
                <a:solidFill>
                  <a:srgbClr val="89B4FA"/>
                </a:solidFill>
                <a:latin typeface="Courier New"/>
              </a:rPr>
              <a:t>    -&gt; Gateway (intelligence)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D2D92-3CF3-4B14-B1B5-6EB8057F660D}"/>
              </a:ext>
            </a:extLst>
          </p:cNvPr>
          <p:cNvSpPr txBox="1"/>
          <p:nvPr/>
        </p:nvSpPr>
        <p:spPr>
          <a:xfrm>
            <a:off x="365760" y="1066112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HOW IT ADDRESSES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9782D-ED0F-42B4-830F-A09AC50D0437}"/>
              </a:ext>
            </a:extLst>
          </p:cNvPr>
          <p:cNvSpPr txBox="1"/>
          <p:nvPr/>
        </p:nvSpPr>
        <p:spPr>
          <a:xfrm>
            <a:off x="365760" y="4388607"/>
            <a:ext cx="62179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CDD6F4"/>
                </a:solidFill>
                <a:latin typeface="Calibri"/>
              </a:rPr>
              <a:t>Single-Operator Constraint</a:t>
            </a:r>
          </a:p>
          <a:p>
            <a:pPr>
              <a:spcBef>
                <a:spcPts val="800"/>
              </a:spcBef>
            </a:pP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'harnessing agents' story is strong within its intended personal scope. The limitation is multi-tenancy: the Gateway is designed for a single operator.</a:t>
            </a:r>
          </a:p>
          <a:p>
            <a:pPr>
              <a:spcBef>
                <a:spcPts val="8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There is no user-level isolation, no per-user tool policy, no per-user session billing. An enterprise using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as a substrate for many end-users would need to deploy one Gateway per user.</a:t>
            </a:r>
          </a:p>
          <a:p>
            <a:pPr>
              <a:spcBef>
                <a:spcPts val="8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This is not a bug — it is a deliberate single-user design — but it caps the 'thin clients calling a shared intelligent substrate' story at single-user scale.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DBE77-5CDC-4775-B7AC-D871B9C88D5A}"/>
              </a:ext>
            </a:extLst>
          </p:cNvPr>
          <p:cNvSpPr txBox="1"/>
          <p:nvPr/>
        </p:nvSpPr>
        <p:spPr>
          <a:xfrm>
            <a:off x="365759" y="4204628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WHERE IT IS LIMITED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08213-472B-4793-91B8-EF0E96919724}"/>
              </a:ext>
            </a:extLst>
          </p:cNvPr>
          <p:cNvSpPr/>
          <p:nvPr/>
        </p:nvSpPr>
        <p:spPr>
          <a:xfrm>
            <a:off x="-1" y="6443424"/>
            <a:ext cx="12188825" cy="418012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2A2B7-974A-4253-9557-12C5467DBE62}"/>
              </a:ext>
            </a:extLst>
          </p:cNvPr>
          <p:cNvSpPr txBox="1"/>
          <p:nvPr/>
        </p:nvSpPr>
        <p:spPr>
          <a:xfrm>
            <a:off x="182879" y="6489144"/>
            <a:ext cx="118626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89B4FA"/>
                </a:solidFill>
                <a:latin typeface="Calibri"/>
              </a:rPr>
              <a:t>Verdict: </a:t>
            </a:r>
            <a:r>
              <a:rPr sz="1500" dirty="0">
                <a:solidFill>
                  <a:srgbClr val="BAC2DE"/>
                </a:solidFill>
                <a:latin typeface="Calibri"/>
              </a:rPr>
              <a:t>Strong for personal scope. Partial for enterprise / multi-tenant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595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CDD6F4"/>
                </a:solidFill>
                <a:latin typeface="Calibri"/>
              </a:rPr>
              <a:t>Trend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2</a:t>
            </a:r>
            <a:r>
              <a:rPr sz="24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Agent Substrate</a:t>
            </a:r>
            <a:endParaRPr sz="2400" b="1" dirty="0">
              <a:solidFill>
                <a:srgbClr val="CDD6F4"/>
              </a:solidFill>
              <a:latin typeface="Calibri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46717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50807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 dirty="0">
                <a:solidFill>
                  <a:srgbClr val="89B4FA"/>
                </a:solidFill>
                <a:latin typeface="Calibri"/>
              </a:rPr>
              <a:t>THE TREND</a:t>
            </a:r>
            <a:r>
              <a:rPr sz="1400" b="1" dirty="0">
                <a:solidFill>
                  <a:srgbClr val="89B4FA"/>
                </a:solidFill>
                <a:latin typeface="Calibri"/>
              </a:rPr>
              <a:t>: 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The agent is not a feature inside applications — it is the substrate that applications call. Remove the agent and the application has no intelligence. The agent is load-bearing</a:t>
            </a:r>
            <a:r>
              <a:rPr sz="1400" dirty="0">
                <a:solidFill>
                  <a:srgbClr val="BAC2DE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94598"/>
            <a:ext cx="6217920" cy="2752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1" dirty="0">
                <a:solidFill>
                  <a:srgbClr val="CDD6F4"/>
                </a:solidFill>
                <a:latin typeface="Calibri"/>
              </a:rPr>
              <a:t>This is the clearest structural match to </a:t>
            </a:r>
            <a:r>
              <a:rPr lang="en-US" sz="1300" b="1" i="1" dirty="0" err="1">
                <a:solidFill>
                  <a:srgbClr val="CDD6F4"/>
                </a:solidFill>
                <a:latin typeface="Calibri"/>
              </a:rPr>
              <a:t>OpenClaw's</a:t>
            </a:r>
            <a:r>
              <a:rPr lang="en-US" sz="1300" b="1" i="1" dirty="0">
                <a:solidFill>
                  <a:srgbClr val="CDD6F4"/>
                </a:solidFill>
                <a:latin typeface="Calibri"/>
              </a:rPr>
              <a:t> architecture. Every component has the Gateway as a non-optional dependency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CDD6F4"/>
                </a:solidFill>
                <a:latin typeface="Calibri"/>
              </a:rPr>
              <a:t>Plugin extensions: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They implement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ChannelPlugin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or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ProviderPlugin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from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/plugin-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sdk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/* and run inside the Gateway. They have no intelligence of their own — they are adapters that expose surfaces to the Gateway.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CDD6F4"/>
                </a:solidFill>
                <a:latin typeface="Calibri"/>
              </a:rPr>
              <a:t>Companion apps: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The macOS menu-bar app, iOS node, and Android node connect to the Gateway via WebSocket on startup. Without the Gateway, they cannot send a message, query a session, or trigger an agent run. They are purely reactive.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CDD6F4"/>
                </a:solidFill>
                <a:latin typeface="Calibri"/>
              </a:rPr>
              <a:t>Channel bots:</a:t>
            </a:r>
            <a:r>
              <a:rPr lang="en-US" sz="1000" b="1" dirty="0">
                <a:solidFill>
                  <a:srgbClr val="CDD6F4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When a Telegram bot receives a message, the channel plugin passes it to the Gateway. If the Gateway is down, no response is generated — the channel plugin has no fallback reasoning.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CDD6F4"/>
                </a:solidFill>
                <a:latin typeface="Calibri"/>
              </a:rPr>
              <a:t>Skills: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Skills are Markdown files injected into the system prompt by the Gateway. They have no execution environment of their own. The Gateway is the runtime that makes them do anything.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CDD6F4"/>
                </a:solidFill>
                <a:latin typeface="Calibri"/>
              </a:rPr>
              <a:t>Gateway lock (docs/gateway/gateway-lock.md):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Enforces that only one Gateway instance runs per host, and all other components wait for it. The substrate is singular and authoritative.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D2D92-3CF3-4B14-B1B5-6EB8057F660D}"/>
              </a:ext>
            </a:extLst>
          </p:cNvPr>
          <p:cNvSpPr txBox="1"/>
          <p:nvPr/>
        </p:nvSpPr>
        <p:spPr>
          <a:xfrm>
            <a:off x="365760" y="1066112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HOW IT ADDRESSES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9782D-ED0F-42B4-830F-A09AC50D0437}"/>
              </a:ext>
            </a:extLst>
          </p:cNvPr>
          <p:cNvSpPr txBox="1"/>
          <p:nvPr/>
        </p:nvSpPr>
        <p:spPr>
          <a:xfrm>
            <a:off x="365760" y="4388607"/>
            <a:ext cx="6217920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CDD6F4"/>
                </a:solidFill>
                <a:latin typeface="Calibri"/>
              </a:rPr>
              <a:t>Single-Operator Trust Model</a:t>
            </a:r>
          </a:p>
          <a:p>
            <a:pPr>
              <a:spcBef>
                <a:spcPts val="8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The substrate story is strong for single-user deployments. It weakens for third-party application developers who want to build multi-user products on top of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The single-operator trust model means the substrate cannot be safely shared across untrusted end-users without running separate Gateway instances.</a:t>
            </a:r>
          </a:p>
          <a:p>
            <a:pPr>
              <a:spcBef>
                <a:spcPts val="8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The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OpenAI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-compatible HTTP API is operator-access only — "once a caller passes Gateway auth,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treats that caller as a trusted operator." There is no narrower per-user scope model baked in.</a:t>
            </a:r>
          </a:p>
          <a:p>
            <a:pPr>
              <a:spcBef>
                <a:spcPts val="8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Enterprise developers wanting to deploy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as a shared substrate for multiple end-users must provision one Gateway instance per user — a significant operational overhead.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DBE77-5CDC-4775-B7AC-D871B9C88D5A}"/>
              </a:ext>
            </a:extLst>
          </p:cNvPr>
          <p:cNvSpPr txBox="1"/>
          <p:nvPr/>
        </p:nvSpPr>
        <p:spPr>
          <a:xfrm>
            <a:off x="365759" y="4204628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WHERE IT IS LIMITED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08213-472B-4793-91B8-EF0E96919724}"/>
              </a:ext>
            </a:extLst>
          </p:cNvPr>
          <p:cNvSpPr/>
          <p:nvPr/>
        </p:nvSpPr>
        <p:spPr>
          <a:xfrm>
            <a:off x="-1" y="6443424"/>
            <a:ext cx="12188825" cy="418012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2A2B7-974A-4253-9557-12C5467DBE62}"/>
              </a:ext>
            </a:extLst>
          </p:cNvPr>
          <p:cNvSpPr txBox="1"/>
          <p:nvPr/>
        </p:nvSpPr>
        <p:spPr>
          <a:xfrm>
            <a:off x="182879" y="6489144"/>
            <a:ext cx="118626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89B4FA"/>
                </a:solidFill>
                <a:latin typeface="Calibri"/>
              </a:rPr>
              <a:t>Verdict: </a:t>
            </a:r>
            <a:r>
              <a:rPr lang="en-US" sz="1500" dirty="0">
                <a:solidFill>
                  <a:srgbClr val="BAC2DE"/>
                </a:solidFill>
                <a:latin typeface="Calibri"/>
              </a:rPr>
              <a:t>Strong for single-user deployments. No multi-tenant isolation limits enterprise use.</a:t>
            </a:r>
            <a:endParaRPr sz="1500" dirty="0">
              <a:solidFill>
                <a:srgbClr val="BAC2D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420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595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CDD6F4"/>
                </a:solidFill>
                <a:latin typeface="Calibri"/>
              </a:rPr>
              <a:t>Trend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3</a:t>
            </a:r>
            <a:r>
              <a:rPr sz="24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Self-Refining Systems</a:t>
            </a:r>
            <a:endParaRPr sz="2400" b="1" dirty="0">
              <a:solidFill>
                <a:srgbClr val="CDD6F4"/>
              </a:solidFill>
              <a:latin typeface="Calibri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46717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50807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 dirty="0">
                <a:solidFill>
                  <a:srgbClr val="89B4FA"/>
                </a:solidFill>
                <a:latin typeface="Calibri"/>
              </a:rPr>
              <a:t>THE TREND</a:t>
            </a:r>
            <a:r>
              <a:rPr sz="1400" b="1" dirty="0">
                <a:solidFill>
                  <a:srgbClr val="89B4FA"/>
                </a:solidFill>
                <a:latin typeface="Calibri"/>
              </a:rPr>
              <a:t>: 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The agent captures its own failures and improves itself without human redeployment. Skills evolve autonomously. The system is better after each run</a:t>
            </a:r>
            <a:r>
              <a:rPr sz="1400" dirty="0">
                <a:solidFill>
                  <a:srgbClr val="BAC2DE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94598"/>
            <a:ext cx="621792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 err="1">
                <a:solidFill>
                  <a:schemeClr val="bg1"/>
                </a:solidFill>
                <a:latin typeface="Calibri"/>
              </a:rPr>
              <a:t>OpenClaw</a:t>
            </a:r>
            <a:r>
              <a:rPr lang="en-US" sz="1200" b="0" i="1" dirty="0">
                <a:solidFill>
                  <a:schemeClr val="bg1"/>
                </a:solidFill>
                <a:latin typeface="Calibri"/>
              </a:rPr>
              <a:t> has a meaningful first layer — though no autonomous skill evolution loop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CDD6F4"/>
                </a:solidFill>
                <a:latin typeface="Calibri"/>
              </a:rPr>
              <a:t>Memory accumulation (data-level adaptation):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Hybrid BM25+vector search with temporal decay accumulates knowledge across sessions. The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memory_write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tool records facts, preferences, and decisions. Over time the agent 'knows more' — data accumulation, not behavioral improvement.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CDD6F4"/>
                </a:solidFill>
                <a:latin typeface="Calibri"/>
              </a:rPr>
              <a:t>Active Memory sub-agent: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The active-memory extension runs a blocking memory sub-agent before each main reply in eligible sessions. The system proactively surfaces relevant past context — it learns what to retrieve, not how to behave.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CDD6F4"/>
                </a:solidFill>
                <a:latin typeface="Calibri"/>
              </a:rPr>
              <a:t>Doctor self-repair: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doctor autonomously detects and fixes misconfigured channel credentials, stale auth profiles, broken DM policies, and known configuration drift. Narrow but genuine self-repair.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rgbClr val="CDD6F4"/>
                </a:solidFill>
                <a:latin typeface="Calibri"/>
              </a:rPr>
              <a:t>Compaction as adaptive history:</a:t>
            </a:r>
            <a:r>
              <a:rPr lang="en-US" sz="1000" b="1" dirty="0">
                <a:solidFill>
                  <a:srgbClr val="CDD6F4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Compaction summaries preserve task state, decisions, and open questions. The system builds a compressed representation of its own history that improves future context quality.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2803" y="3359565"/>
            <a:ext cx="5029200" cy="2972486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4243" y="3405285"/>
            <a:ext cx="3158237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# The loop </a:t>
            </a:r>
            <a:r>
              <a:rPr lang="en-US" sz="1100" dirty="0" err="1">
                <a:solidFill>
                  <a:srgbClr val="89B4FA"/>
                </a:solidFill>
                <a:latin typeface="Courier New"/>
              </a:rPr>
              <a:t>OpenClaw</a:t>
            </a:r>
            <a:r>
              <a:rPr lang="en-US" sz="1100" dirty="0">
                <a:solidFill>
                  <a:srgbClr val="89B4FA"/>
                </a:solidFill>
                <a:latin typeface="Courier New"/>
              </a:rPr>
              <a:t> does NOT have:</a:t>
            </a:r>
          </a:p>
          <a:p>
            <a:endParaRPr lang="en-US" sz="1100" dirty="0">
              <a:solidFill>
                <a:srgbClr val="89B4FA"/>
              </a:solidFill>
              <a:latin typeface="Courier New"/>
            </a:endParaRP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Run fails or produces poor output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--&gt; Failure is classified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--&gt; New skill is created or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   existing skill is modified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--&gt; Skill is tested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--&gt; Deployed without human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   intervention</a:t>
            </a:r>
          </a:p>
          <a:p>
            <a:endParaRPr lang="en-US" sz="1100" dirty="0">
              <a:solidFill>
                <a:srgbClr val="89B4FA"/>
              </a:solidFill>
              <a:latin typeface="Courier New"/>
            </a:endParaRP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# What </a:t>
            </a:r>
            <a:r>
              <a:rPr lang="en-US" sz="1100" dirty="0" err="1">
                <a:solidFill>
                  <a:srgbClr val="89B4FA"/>
                </a:solidFill>
                <a:latin typeface="Courier New"/>
              </a:rPr>
              <a:t>OpenClaw</a:t>
            </a:r>
            <a:r>
              <a:rPr lang="en-US" sz="1100" dirty="0">
                <a:solidFill>
                  <a:srgbClr val="89B4FA"/>
                </a:solidFill>
                <a:latin typeface="Courier New"/>
              </a:rPr>
              <a:t> DOES have:</a:t>
            </a:r>
          </a:p>
          <a:p>
            <a:endParaRPr lang="en-US" sz="1100" dirty="0">
              <a:solidFill>
                <a:srgbClr val="89B4FA"/>
              </a:solidFill>
              <a:latin typeface="Courier New"/>
            </a:endParaRP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Run completes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--&gt; Facts stored in memory (data)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--&gt; Compaction updates history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--&gt; Skills: unchanged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D2D92-3CF3-4B14-B1B5-6EB8057F660D}"/>
              </a:ext>
            </a:extLst>
          </p:cNvPr>
          <p:cNvSpPr txBox="1"/>
          <p:nvPr/>
        </p:nvSpPr>
        <p:spPr>
          <a:xfrm>
            <a:off x="365760" y="1066112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HOW IT ADDRESSES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9782D-ED0F-42B4-830F-A09AC50D0437}"/>
              </a:ext>
            </a:extLst>
          </p:cNvPr>
          <p:cNvSpPr txBox="1"/>
          <p:nvPr/>
        </p:nvSpPr>
        <p:spPr>
          <a:xfrm>
            <a:off x="365760" y="3941719"/>
            <a:ext cx="616704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CDD6F4"/>
                </a:solidFill>
                <a:latin typeface="Calibri"/>
              </a:rPr>
              <a:t>The Missing Autonomous Skill Evolution Loop</a:t>
            </a:r>
          </a:p>
          <a:p>
            <a:pPr>
              <a:spcBef>
                <a:spcPts val="6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Skills in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are static Markdown files. They can be updated by the user or installed from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ClawHub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but not autonomously evolved by the agent. There is no feedback loop from run outcomes to skill quality.</a:t>
            </a:r>
          </a:p>
          <a:p>
            <a:pPr>
              <a:spcBef>
                <a:spcPts val="600"/>
              </a:spcBef>
            </a:pPr>
            <a:r>
              <a:rPr lang="en-US" sz="1000" i="1" dirty="0">
                <a:solidFill>
                  <a:srgbClr val="BAC2DE"/>
                </a:solidFill>
                <a:latin typeface="Calibri"/>
              </a:rPr>
              <a:t>VISION.md notes that </a:t>
            </a:r>
            <a:r>
              <a:rPr lang="en-US" sz="1000" i="1" dirty="0" err="1">
                <a:solidFill>
                  <a:srgbClr val="BAC2DE"/>
                </a:solidFill>
                <a:latin typeface="Calibri"/>
              </a:rPr>
              <a:t>ClawHub</a:t>
            </a:r>
            <a:r>
              <a:rPr lang="en-US" sz="1000" i="1" dirty="0">
                <a:solidFill>
                  <a:srgbClr val="BAC2DE"/>
                </a:solidFill>
                <a:latin typeface="Calibri"/>
              </a:rPr>
              <a:t> is the right distribution path for skills, and new core skills require strong justification — this philosophy pushes against autonomous skill mutation.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DBE77-5CDC-4775-B7AC-D871B9C88D5A}"/>
              </a:ext>
            </a:extLst>
          </p:cNvPr>
          <p:cNvSpPr txBox="1"/>
          <p:nvPr/>
        </p:nvSpPr>
        <p:spPr>
          <a:xfrm>
            <a:off x="365759" y="3757740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WHERE IT IS LIMITED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08213-472B-4793-91B8-EF0E96919724}"/>
              </a:ext>
            </a:extLst>
          </p:cNvPr>
          <p:cNvSpPr/>
          <p:nvPr/>
        </p:nvSpPr>
        <p:spPr>
          <a:xfrm>
            <a:off x="-1" y="6443424"/>
            <a:ext cx="12188825" cy="418012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2A2B7-974A-4253-9557-12C5467DBE62}"/>
              </a:ext>
            </a:extLst>
          </p:cNvPr>
          <p:cNvSpPr txBox="1"/>
          <p:nvPr/>
        </p:nvSpPr>
        <p:spPr>
          <a:xfrm>
            <a:off x="182879" y="6489144"/>
            <a:ext cx="118626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89B4FA"/>
                </a:solidFill>
                <a:latin typeface="Calibri"/>
              </a:rPr>
              <a:t>Verdict: </a:t>
            </a:r>
            <a:r>
              <a:rPr lang="en-US" sz="1600" dirty="0">
                <a:solidFill>
                  <a:srgbClr val="BAC2DE"/>
                </a:solidFill>
                <a:latin typeface="Calibri"/>
              </a:rPr>
              <a:t>Weak — data-level adaptation only. No autonomous skill evolution loop exists</a:t>
            </a:r>
            <a:r>
              <a:rPr sz="1500" dirty="0">
                <a:solidFill>
                  <a:srgbClr val="BAC2DE"/>
                </a:solidFill>
                <a:latin typeface="Calibri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913D50-8891-432B-8B51-2A29B2194FC1}"/>
              </a:ext>
            </a:extLst>
          </p:cNvPr>
          <p:cNvSpPr txBox="1"/>
          <p:nvPr/>
        </p:nvSpPr>
        <p:spPr>
          <a:xfrm>
            <a:off x="365759" y="5634415"/>
            <a:ext cx="61670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 adapts its memory (data) but not its skills (behavior). Self-refining systems in 2026 modify the behavior layer, not just the data layer.</a:t>
            </a:r>
            <a:endParaRPr lang="en-US" sz="1000" i="1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E7A9B5-2C27-4B11-8B3D-8B3991E0537E}"/>
              </a:ext>
            </a:extLst>
          </p:cNvPr>
          <p:cNvSpPr txBox="1"/>
          <p:nvPr/>
        </p:nvSpPr>
        <p:spPr>
          <a:xfrm>
            <a:off x="365758" y="5450436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PRECISE GAP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465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595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CDD6F4"/>
                </a:solidFill>
                <a:latin typeface="Calibri"/>
              </a:rPr>
              <a:t>Trend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4</a:t>
            </a:r>
            <a:r>
              <a:rPr sz="24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Ambient Agents</a:t>
            </a:r>
            <a:endParaRPr sz="2400" b="1" dirty="0">
              <a:solidFill>
                <a:srgbClr val="CDD6F4"/>
              </a:solidFill>
              <a:latin typeface="Calibri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46717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50807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 dirty="0">
                <a:solidFill>
                  <a:srgbClr val="89B4FA"/>
                </a:solidFill>
                <a:latin typeface="Calibri"/>
              </a:rPr>
              <a:t>THE TREND</a:t>
            </a:r>
            <a:r>
              <a:rPr sz="1400" b="1" dirty="0">
                <a:solidFill>
                  <a:srgbClr val="89B4FA"/>
                </a:solidFill>
                <a:latin typeface="Calibri"/>
              </a:rPr>
              <a:t>: 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The agent is always present, always ready, operating in the real world — not just called on demand. It works with real browsers, authenticated sessions, real-world interfaces, not just clean APIs.</a:t>
            </a:r>
            <a:r>
              <a:rPr sz="1400" dirty="0">
                <a:solidFill>
                  <a:srgbClr val="BAC2DE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94598"/>
            <a:ext cx="6217920" cy="2916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CDD6F4"/>
                </a:solidFill>
                <a:latin typeface="Calibri"/>
              </a:rPr>
              <a:t>This is </a:t>
            </a:r>
            <a:r>
              <a:rPr lang="en-US" sz="1200" b="1" i="1" dirty="0" err="1">
                <a:solidFill>
                  <a:srgbClr val="CDD6F4"/>
                </a:solidFill>
                <a:latin typeface="Calibri"/>
              </a:rPr>
              <a:t>OpenClaw's</a:t>
            </a:r>
            <a:r>
              <a:rPr lang="en-US" sz="1200" b="1" i="1" dirty="0">
                <a:solidFill>
                  <a:srgbClr val="CDD6F4"/>
                </a:solidFill>
                <a:latin typeface="Calibri"/>
              </a:rPr>
              <a:t> strongest alignment with the 2026 trends. 7 Ambient Features</a:t>
            </a:r>
            <a:endParaRPr sz="1300" b="1" i="1" dirty="0">
              <a:solidFill>
                <a:srgbClr val="CDD6F4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Always-on daemon:</a:t>
            </a:r>
            <a:r>
              <a:rPr lang="en-US" sz="1000" b="1" dirty="0">
                <a:solidFill>
                  <a:srgbClr val="89B4FA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Installs as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launchd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(macOS) or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systemd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(Linux) user service. Starts at login, stays running. Not a CLI tool — a background process.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Voice Wake: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macOS and iOS support wake-word detection. Assistant triggered by voice without keyboard. Running continuously in the background.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Real browser with cookies: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Browser extension uses CDP to control real Chromium — not a headless scraper. Handles cookies, session tokens, OAuth redirects, login flows.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Multi-channel ambient reach: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Lives in WhatsApp, Telegram, Slack, Discord — the places the user already spends time. AI responses where they already receive messages.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Cron and heartbeat: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Scheduled tasks run autonomously. Heartbeat sends proactive messages without user prompting. Webhooks allow external triggers.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Device nodes (iOS/Android/macOS):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Always-on connections exposing camera, microphone, screen capture, location. Agent can reach into the user's physical world.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Task Flow (durable automation):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Persists multi-step workflow state across Gateway restarts. A complex background operation survives process crashes.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2803" y="925746"/>
            <a:ext cx="5029200" cy="2972486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4243" y="971466"/>
            <a:ext cx="3498073" cy="21698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89B4FA"/>
                </a:solidFill>
                <a:latin typeface="Calibri"/>
              </a:rPr>
              <a:t>Ambient Presence Summary</a:t>
            </a:r>
          </a:p>
          <a:p>
            <a:r>
              <a:rPr lang="en-US" sz="1100" i="1" dirty="0">
                <a:solidFill>
                  <a:srgbClr val="A6E3A1"/>
                </a:solidFill>
                <a:latin typeface="Courier New"/>
              </a:rPr>
              <a:t>   </a:t>
            </a:r>
            <a:r>
              <a:rPr lang="en-US" sz="1100" i="1" dirty="0" err="1">
                <a:solidFill>
                  <a:srgbClr val="A6E3A1"/>
                </a:solidFill>
                <a:latin typeface="Courier New"/>
              </a:rPr>
              <a:t>launchd</a:t>
            </a:r>
            <a:r>
              <a:rPr lang="en-US" sz="1100" i="1" dirty="0">
                <a:solidFill>
                  <a:srgbClr val="A6E3A1"/>
                </a:solidFill>
                <a:latin typeface="Courier New"/>
              </a:rPr>
              <a:t>/</a:t>
            </a:r>
            <a:r>
              <a:rPr lang="en-US" sz="1100" i="1" dirty="0" err="1">
                <a:solidFill>
                  <a:srgbClr val="A6E3A1"/>
                </a:solidFill>
                <a:latin typeface="Courier New"/>
              </a:rPr>
              <a:t>systemd</a:t>
            </a:r>
            <a:r>
              <a:rPr lang="en-US" sz="1100" i="1" dirty="0">
                <a:solidFill>
                  <a:srgbClr val="A6E3A1"/>
                </a:solidFill>
                <a:latin typeface="Courier New"/>
              </a:rPr>
              <a:t>  -&gt;  Always running</a:t>
            </a:r>
          </a:p>
          <a:p>
            <a:r>
              <a:rPr lang="en-US" sz="1100" i="1" dirty="0">
                <a:solidFill>
                  <a:srgbClr val="A6E3A1"/>
                </a:solidFill>
                <a:latin typeface="Courier New"/>
              </a:rPr>
              <a:t>   Wake word        -&gt;  Voice activated</a:t>
            </a:r>
          </a:p>
          <a:p>
            <a:r>
              <a:rPr lang="en-US" sz="1100" i="1" dirty="0">
                <a:solidFill>
                  <a:srgbClr val="A6E3A1"/>
                </a:solidFill>
                <a:latin typeface="Courier New"/>
              </a:rPr>
              <a:t>   CDP browser      -&gt;  Real sessions</a:t>
            </a:r>
          </a:p>
          <a:p>
            <a:r>
              <a:rPr lang="en-US" sz="1100" i="1" dirty="0">
                <a:solidFill>
                  <a:srgbClr val="A6E3A1"/>
                </a:solidFill>
                <a:latin typeface="Courier New"/>
              </a:rPr>
              <a:t>   WhatsApp/TG/Slack -&gt;  Your channels</a:t>
            </a:r>
          </a:p>
          <a:p>
            <a:r>
              <a:rPr lang="en-US" sz="1100" i="1" dirty="0">
                <a:solidFill>
                  <a:srgbClr val="A6E3A1"/>
                </a:solidFill>
                <a:latin typeface="Courier New"/>
              </a:rPr>
              <a:t>   Cron + heartbeat -&gt;  Proactive tasks</a:t>
            </a:r>
          </a:p>
          <a:p>
            <a:r>
              <a:rPr lang="en-US" sz="1100" i="1" dirty="0">
                <a:solidFill>
                  <a:srgbClr val="A6E3A1"/>
                </a:solidFill>
                <a:latin typeface="Courier New"/>
              </a:rPr>
              <a:t>   Device nodes     -&gt;  Physical world</a:t>
            </a:r>
          </a:p>
          <a:p>
            <a:r>
              <a:rPr lang="en-US" sz="1100" i="1" dirty="0">
                <a:solidFill>
                  <a:srgbClr val="A6E3A1"/>
                </a:solidFill>
                <a:latin typeface="Courier New"/>
              </a:rPr>
              <a:t>   Task Flow        -&gt;  Crash-resilient</a:t>
            </a:r>
          </a:p>
          <a:p>
            <a:endParaRPr lang="en-US" sz="1100" i="1" dirty="0">
              <a:solidFill>
                <a:srgbClr val="A6E3A1"/>
              </a:solidFill>
              <a:latin typeface="Courier New"/>
            </a:endParaRPr>
          </a:p>
          <a:p>
            <a:r>
              <a:rPr lang="en-US" sz="1100" i="1" dirty="0">
                <a:solidFill>
                  <a:srgbClr val="A6E3A1"/>
                </a:solidFill>
                <a:latin typeface="Calibri"/>
              </a:rPr>
              <a:t>"</a:t>
            </a:r>
            <a:r>
              <a:rPr lang="en-US" sz="1100" i="1" dirty="0" err="1">
                <a:solidFill>
                  <a:srgbClr val="A6E3A1"/>
                </a:solidFill>
                <a:latin typeface="Calibri"/>
              </a:rPr>
              <a:t>OpenClaw</a:t>
            </a:r>
            <a:r>
              <a:rPr lang="en-US" sz="1100" i="1" dirty="0">
                <a:solidFill>
                  <a:srgbClr val="A6E3A1"/>
                </a:solidFill>
                <a:latin typeface="Calibri"/>
              </a:rPr>
              <a:t> doesn't add a new interface.</a:t>
            </a:r>
          </a:p>
          <a:p>
            <a:r>
              <a:rPr lang="en-US" sz="1100" i="1" dirty="0">
                <a:solidFill>
                  <a:srgbClr val="A6E3A1"/>
                </a:solidFill>
                <a:latin typeface="Calibri"/>
              </a:rPr>
              <a:t> It lives in the channels the user</a:t>
            </a:r>
          </a:p>
          <a:p>
            <a:r>
              <a:rPr lang="en-US" sz="1100" i="1" dirty="0">
                <a:solidFill>
                  <a:srgbClr val="A6E3A1"/>
                </a:solidFill>
                <a:latin typeface="Calibri"/>
              </a:rPr>
              <a:t> already uses."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D2D92-3CF3-4B14-B1B5-6EB8057F660D}"/>
              </a:ext>
            </a:extLst>
          </p:cNvPr>
          <p:cNvSpPr txBox="1"/>
          <p:nvPr/>
        </p:nvSpPr>
        <p:spPr>
          <a:xfrm>
            <a:off x="365760" y="1066112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HOW IT ADDRESSES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9782D-ED0F-42B4-830F-A09AC50D0437}"/>
              </a:ext>
            </a:extLst>
          </p:cNvPr>
          <p:cNvSpPr txBox="1"/>
          <p:nvPr/>
        </p:nvSpPr>
        <p:spPr>
          <a:xfrm>
            <a:off x="365759" y="4388607"/>
            <a:ext cx="8654488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CDD6F4"/>
                </a:solidFill>
                <a:latin typeface="Calibri"/>
              </a:rPr>
              <a:t>Platform Depth Variance</a:t>
            </a:r>
          </a:p>
          <a:p>
            <a:pPr>
              <a:spcBef>
                <a:spcPts val="10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macOS is the deepest integration: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The ambient story is strongest on macOS. The macOS node has deepest app integration, native menu-bar presence,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launchd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daemon, and the most complete device node capabilities.</a:t>
            </a:r>
          </a:p>
          <a:p>
            <a:pPr>
              <a:spcBef>
                <a:spcPts val="10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Android and iOS nodes are more limited: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Android and iOS nodes are functional but have more limited ambient capabilities than the macOS node. Background execution restrictions on mobile platforms constrain what 'always-on' can mean.</a:t>
            </a:r>
          </a:p>
          <a:p>
            <a:pPr>
              <a:spcBef>
                <a:spcPts val="10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Browser ambient requires a running browser: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The real-browser ambient presence requires a running browser process. There is no headless ambient browser session that persists across system restarts without additional configuration.</a:t>
            </a:r>
          </a:p>
          <a:p>
            <a:pPr>
              <a:spcBef>
                <a:spcPts val="10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Voice wake is macOS/iOS only: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Wake-word detection is not available on Android or Linux deployments. The ambient voice story is platform-specific.</a:t>
            </a:r>
          </a:p>
          <a:p>
            <a:pPr>
              <a:spcBef>
                <a:spcPts val="800"/>
              </a:spcBef>
            </a:pPr>
            <a:endParaRPr lang="en-US" sz="10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DBE77-5CDC-4775-B7AC-D871B9C88D5A}"/>
              </a:ext>
            </a:extLst>
          </p:cNvPr>
          <p:cNvSpPr txBox="1"/>
          <p:nvPr/>
        </p:nvSpPr>
        <p:spPr>
          <a:xfrm>
            <a:off x="365759" y="4204628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WHERE IT IS LIMITED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08213-472B-4793-91B8-EF0E96919724}"/>
              </a:ext>
            </a:extLst>
          </p:cNvPr>
          <p:cNvSpPr/>
          <p:nvPr/>
        </p:nvSpPr>
        <p:spPr>
          <a:xfrm>
            <a:off x="-1" y="6443424"/>
            <a:ext cx="12188825" cy="418012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2A2B7-974A-4253-9557-12C5467DBE62}"/>
              </a:ext>
            </a:extLst>
          </p:cNvPr>
          <p:cNvSpPr txBox="1"/>
          <p:nvPr/>
        </p:nvSpPr>
        <p:spPr>
          <a:xfrm>
            <a:off x="0" y="6489144"/>
            <a:ext cx="121888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89B4FA"/>
                </a:solidFill>
                <a:latin typeface="Calibri"/>
              </a:rPr>
              <a:t>Verdict: </a:t>
            </a:r>
            <a:r>
              <a:rPr lang="en-US" sz="1500" dirty="0">
                <a:solidFill>
                  <a:srgbClr val="BAC2DE"/>
                </a:solidFill>
                <a:latin typeface="Calibri"/>
              </a:rPr>
              <a:t>Strong — one of </a:t>
            </a:r>
            <a:r>
              <a:rPr lang="en-US" sz="15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500" dirty="0">
                <a:solidFill>
                  <a:srgbClr val="BAC2DE"/>
                </a:solidFill>
                <a:latin typeface="Calibri"/>
              </a:rPr>
              <a:t> clearest differentiators. Ambient depth varies by platform</a:t>
            </a:r>
            <a:r>
              <a:rPr sz="1500" dirty="0">
                <a:solidFill>
                  <a:srgbClr val="BAC2DE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637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595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CDD6F4"/>
                </a:solidFill>
                <a:latin typeface="Calibri"/>
              </a:rPr>
              <a:t>Trend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5</a:t>
            </a:r>
            <a:r>
              <a:rPr sz="24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Executable Intelligence</a:t>
            </a:r>
            <a:endParaRPr sz="2400" b="1" dirty="0">
              <a:solidFill>
                <a:srgbClr val="CDD6F4"/>
              </a:solidFill>
              <a:latin typeface="Calibri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46717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50807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 dirty="0">
                <a:solidFill>
                  <a:srgbClr val="89B4FA"/>
                </a:solidFill>
                <a:latin typeface="Calibri"/>
              </a:rPr>
              <a:t>THE TREND</a:t>
            </a:r>
            <a:r>
              <a:rPr sz="1400" b="1" dirty="0">
                <a:solidFill>
                  <a:srgbClr val="89B4FA"/>
                </a:solidFill>
                <a:latin typeface="Calibri"/>
              </a:rPr>
              <a:t>: 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Every response from the agent is schema-validated, machine-</a:t>
            </a:r>
            <a:r>
              <a:rPr lang="en-US" sz="1400" dirty="0" err="1">
                <a:solidFill>
                  <a:srgbClr val="BAC2DE"/>
                </a:solidFill>
                <a:latin typeface="Calibri"/>
              </a:rPr>
              <a:t>parseable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, directly consumed by the calling application. Structured. Reliable. Actionable. Not natural language to be scraped — typed data to be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94598"/>
            <a:ext cx="621792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CDD6F4"/>
                </a:solidFill>
                <a:latin typeface="Calibri"/>
              </a:rPr>
              <a:t>Picture is split: infrastructure layer is fully structured; channel delivery is natural language.</a:t>
            </a:r>
            <a:endParaRPr lang="en-US" sz="1300" b="1" i="1" dirty="0">
              <a:solidFill>
                <a:srgbClr val="CDD6F4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Gateway protocol — typed JSON throughout: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Every request/response on the Gateway WebSocket uses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TypeBox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schemas. Defined in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/gateway/protocol/ as strict TypeScript types, then used to generate JSON Schema for validation, and Swift types for native app client generation.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HTTP API surfaces — standard structured formats:</a:t>
            </a:r>
            <a:r>
              <a:rPr lang="en-US" sz="1000" b="1" dirty="0">
                <a:solidFill>
                  <a:srgbClr val="89B4FA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/v1/chat/completions returns standard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OpenAI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-format JSON. /v1/responses returns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OpenResponses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-format JSON. Calling applications can parse these directly — no regex parsing, no prompt engineering for output format.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Tool schemas — typed inputs and outputs:</a:t>
            </a:r>
            <a:r>
              <a:rPr lang="en-US" sz="1000" b="1" dirty="0">
                <a:solidFill>
                  <a:srgbClr val="89B4FA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Tool call arguments validated against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TypeBox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schemas before execution. The model cannot call a tool with invalid arguments; the harness rejects it.</a:t>
            </a:r>
          </a:p>
          <a:p>
            <a:pPr>
              <a:spcBef>
                <a:spcPts val="5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ACP bridge — typed streaming events: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When an IDE connects via ACP, it receives typed events: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tool_call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output_text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usage_update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,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session_info_update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. The IDE does not parse narrative text — it consumes structured events.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D2D92-3CF3-4B14-B1B5-6EB8057F660D}"/>
              </a:ext>
            </a:extLst>
          </p:cNvPr>
          <p:cNvSpPr txBox="1"/>
          <p:nvPr/>
        </p:nvSpPr>
        <p:spPr>
          <a:xfrm>
            <a:off x="365760" y="1066112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HOW IT ADDRESSES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9782D-ED0F-42B4-830F-A09AC50D0437}"/>
              </a:ext>
            </a:extLst>
          </p:cNvPr>
          <p:cNvSpPr txBox="1"/>
          <p:nvPr/>
        </p:nvSpPr>
        <p:spPr>
          <a:xfrm>
            <a:off x="365759" y="4388607"/>
            <a:ext cx="9080749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CDD6F4"/>
                </a:solidFill>
                <a:latin typeface="Calibri"/>
              </a:rPr>
              <a:t>Three Gaps in the Structured Intelligence Story</a:t>
            </a:r>
          </a:p>
          <a:p>
            <a:pPr>
              <a:spcBef>
                <a:spcPts val="12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Gap 1 — Channel delivery is natural language, not schema: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When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replies to a WhatsApp message, the response is natural language text. There is no native mode where channel responses are structured JSON for programmatic consumption by the messaging platform.</a:t>
            </a:r>
          </a:p>
          <a:p>
            <a:pPr>
              <a:spcBef>
                <a:spcPts val="12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Gap 2 — No enforced output schema per-call: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The HTTP API does not support a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response_format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: { type: "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json_schema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", schema: {...} } parameter that forces the model to respond with a validated JSON structure.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OpenAI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and Anthropic support this in their APIs.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Gateway does not expose it as a first-class feature.</a:t>
            </a:r>
          </a:p>
          <a:p>
            <a:pPr>
              <a:spcBef>
                <a:spcPts val="12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Gap 3 — Skills are Markdown, not executable contracts: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Skills injected into the system prompt are natural language instructions, not typed contracts. They influence behavior through prose, not through machine-readable policy.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DBE77-5CDC-4775-B7AC-D871B9C88D5A}"/>
              </a:ext>
            </a:extLst>
          </p:cNvPr>
          <p:cNvSpPr txBox="1"/>
          <p:nvPr/>
        </p:nvSpPr>
        <p:spPr>
          <a:xfrm>
            <a:off x="365759" y="4204628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WHERE IT IS LIMITED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08213-472B-4793-91B8-EF0E96919724}"/>
              </a:ext>
            </a:extLst>
          </p:cNvPr>
          <p:cNvSpPr/>
          <p:nvPr/>
        </p:nvSpPr>
        <p:spPr>
          <a:xfrm>
            <a:off x="-1" y="6443424"/>
            <a:ext cx="12188825" cy="418012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2A2B7-974A-4253-9557-12C5467DBE62}"/>
              </a:ext>
            </a:extLst>
          </p:cNvPr>
          <p:cNvSpPr txBox="1"/>
          <p:nvPr/>
        </p:nvSpPr>
        <p:spPr>
          <a:xfrm>
            <a:off x="182879" y="6489144"/>
            <a:ext cx="118626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89B4FA"/>
                </a:solidFill>
                <a:latin typeface="Calibri"/>
              </a:rPr>
              <a:t>Verdict: </a:t>
            </a:r>
            <a:r>
              <a:rPr lang="en-US" sz="1500" dirty="0">
                <a:solidFill>
                  <a:srgbClr val="BAC2DE"/>
                </a:solidFill>
                <a:latin typeface="Calibri"/>
              </a:rPr>
              <a:t>Partial — structured at API boundary; unstructured at channel delivery and skill layer.</a:t>
            </a:r>
            <a:endParaRPr sz="1500" dirty="0">
              <a:solidFill>
                <a:srgbClr val="BAC2D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830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595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CDD6F4"/>
                </a:solidFill>
                <a:latin typeface="Calibri"/>
              </a:rPr>
              <a:t>Trend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6</a:t>
            </a:r>
            <a:r>
              <a:rPr sz="24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Business-Native Agents</a:t>
            </a:r>
            <a:endParaRPr sz="2400" b="1" dirty="0">
              <a:solidFill>
                <a:srgbClr val="CDD6F4"/>
              </a:solidFill>
              <a:latin typeface="Calibri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46717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50807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 dirty="0">
                <a:solidFill>
                  <a:srgbClr val="89B4FA"/>
                </a:solidFill>
                <a:latin typeface="Calibri"/>
              </a:rPr>
              <a:t>THE TREND</a:t>
            </a:r>
            <a:r>
              <a:rPr sz="1400" b="1" dirty="0">
                <a:solidFill>
                  <a:srgbClr val="89B4FA"/>
                </a:solidFill>
                <a:latin typeface="Calibri"/>
              </a:rPr>
              <a:t>: 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The application contains no domain logic. The agent IS the domain logic — created dynamically by the agent, provided to the thin client on demand. Business rules live in the agent, not in the application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94598"/>
            <a:ext cx="62179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1" dirty="0" err="1">
                <a:solidFill>
                  <a:srgbClr val="CDD6F4"/>
                </a:solidFill>
                <a:latin typeface="Calibri"/>
              </a:rPr>
              <a:t>OpenClaw</a:t>
            </a:r>
            <a:r>
              <a:rPr lang="en-US" sz="1300" b="1" i="1" dirty="0">
                <a:solidFill>
                  <a:srgbClr val="CDD6F4"/>
                </a:solidFill>
                <a:latin typeface="Calibri"/>
              </a:rPr>
              <a:t> fully realizes this trend within the personal assistant domain.</a:t>
            </a:r>
          </a:p>
          <a:p>
            <a:pPr>
              <a:spcBef>
                <a:spcPts val="800"/>
              </a:spcBef>
            </a:pPr>
            <a:r>
              <a:rPr lang="en-US" sz="1200" b="1" dirty="0">
                <a:solidFill>
                  <a:srgbClr val="89B4FA"/>
                </a:solidFill>
                <a:latin typeface="Calibri"/>
              </a:rPr>
              <a:t>Companion apps contain no domain reasoning: </a:t>
            </a:r>
            <a:r>
              <a:rPr lang="en-US" sz="1200" dirty="0">
                <a:solidFill>
                  <a:srgbClr val="BAC2DE"/>
                </a:solidFill>
                <a:latin typeface="Calibri"/>
              </a:rPr>
              <a:t>The macOS, iOS, Android apps are input capture and output rendering. When the user asks 'what's on my calendar this week?', the app doesn't query a calendar API. The Gateway does — through a tool, a skill, or a memory note.</a:t>
            </a:r>
          </a:p>
          <a:p>
            <a:pPr>
              <a:spcBef>
                <a:spcPts val="800"/>
              </a:spcBef>
            </a:pPr>
            <a:r>
              <a:rPr lang="en-US" sz="1200" b="1" dirty="0">
                <a:solidFill>
                  <a:srgbClr val="89B4FA"/>
                </a:solidFill>
                <a:latin typeface="Calibri"/>
              </a:rPr>
              <a:t>Skills as runtime domain logic injection: </a:t>
            </a:r>
            <a:r>
              <a:rPr lang="en-US" sz="1200" dirty="0">
                <a:solidFill>
                  <a:srgbClr val="BAC2DE"/>
                </a:solidFill>
                <a:latin typeface="Calibri"/>
              </a:rPr>
              <a:t>The skills system (skills/) lets the agent acquire domain-specific capabilities at runtime. A travel-planning skill, a code-review skill, a finance-tracking skill — injected into the system prompt, making the agent domain-competent without modifying the application layer.</a:t>
            </a:r>
          </a:p>
          <a:p>
            <a:pPr>
              <a:spcBef>
                <a:spcPts val="800"/>
              </a:spcBef>
            </a:pPr>
            <a:r>
              <a:rPr lang="en-US" sz="1200" b="1" dirty="0">
                <a:solidFill>
                  <a:srgbClr val="89B4FA"/>
                </a:solidFill>
                <a:latin typeface="Calibri"/>
              </a:rPr>
              <a:t>Memory as dynamic domain knowledge: </a:t>
            </a:r>
            <a:r>
              <a:rPr lang="en-US" sz="1200" dirty="0">
                <a:solidFill>
                  <a:srgbClr val="BAC2DE"/>
                </a:solidFill>
                <a:latin typeface="Calibri"/>
              </a:rPr>
              <a:t>The agent accumulates domain knowledge about the user in memory (preferences, recurring tasks, relationships, projects). This is domain logic — knowing that 'when the user says standup they mean the 9am daily meeting' — that lives in the agent, not in any application.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D2D92-3CF3-4B14-B1B5-6EB8057F660D}"/>
              </a:ext>
            </a:extLst>
          </p:cNvPr>
          <p:cNvSpPr txBox="1"/>
          <p:nvPr/>
        </p:nvSpPr>
        <p:spPr>
          <a:xfrm>
            <a:off x="365760" y="1066112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HOW IT ADDRESSES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9782D-ED0F-42B4-830F-A09AC50D0437}"/>
              </a:ext>
            </a:extLst>
          </p:cNvPr>
          <p:cNvSpPr txBox="1"/>
          <p:nvPr/>
        </p:nvSpPr>
        <p:spPr>
          <a:xfrm>
            <a:off x="365760" y="4388607"/>
            <a:ext cx="881261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CDD6F4"/>
                </a:solidFill>
                <a:latin typeface="Calibri"/>
              </a:rPr>
              <a:t>Personal Scope, Not Enterprise Platform</a:t>
            </a:r>
          </a:p>
          <a:p>
            <a:pPr>
              <a:spcBef>
                <a:spcPts val="600"/>
              </a:spcBef>
            </a:pP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is not designed as a platform for building business applications. An enterprise developer who wants to build a 'travel booking app where the agent handles all travel domain logic' cannot use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as the backend without significant adaptation.</a:t>
            </a:r>
          </a:p>
          <a:p>
            <a:pPr>
              <a:spcBef>
                <a:spcPts val="6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Missing enterprise capabilities that prevent this:</a:t>
            </a:r>
          </a:p>
          <a:p>
            <a:pPr>
              <a:spcBef>
                <a:spcPts val="6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    - No multi-tenancy: one Gateway serves one user, not many</a:t>
            </a:r>
          </a:p>
          <a:p>
            <a:pPr>
              <a:spcBef>
                <a:spcPts val="6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    - No per-user domain logic isolation</a:t>
            </a:r>
          </a:p>
          <a:p>
            <a:pPr>
              <a:spcBef>
                <a:spcPts val="6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    - No workflow for defining domain-specific agent personas that multiple users call</a:t>
            </a:r>
          </a:p>
          <a:p>
            <a:pPr>
              <a:spcBef>
                <a:spcPts val="6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    - No user-level session management or billing isolation</a:t>
            </a:r>
          </a:p>
          <a:p>
            <a:pPr>
              <a:spcBef>
                <a:spcPts val="6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The companion apps are pure UI precisely because the Gateway owns all intelligence — but this design works when 'the user' and 'the operator' are the same person. Enterprise use cases separate these roles.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DBE77-5CDC-4775-B7AC-D871B9C88D5A}"/>
              </a:ext>
            </a:extLst>
          </p:cNvPr>
          <p:cNvSpPr txBox="1"/>
          <p:nvPr/>
        </p:nvSpPr>
        <p:spPr>
          <a:xfrm>
            <a:off x="365759" y="4204628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WHERE IT IS LIMITED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08213-472B-4793-91B8-EF0E96919724}"/>
              </a:ext>
            </a:extLst>
          </p:cNvPr>
          <p:cNvSpPr/>
          <p:nvPr/>
        </p:nvSpPr>
        <p:spPr>
          <a:xfrm>
            <a:off x="-1" y="6443424"/>
            <a:ext cx="12188825" cy="418012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2A2B7-974A-4253-9557-12C5467DBE62}"/>
              </a:ext>
            </a:extLst>
          </p:cNvPr>
          <p:cNvSpPr txBox="1"/>
          <p:nvPr/>
        </p:nvSpPr>
        <p:spPr>
          <a:xfrm>
            <a:off x="182879" y="6489144"/>
            <a:ext cx="118626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89B4FA"/>
                </a:solidFill>
                <a:latin typeface="Calibri"/>
              </a:rPr>
              <a:t>Verdict: </a:t>
            </a:r>
            <a:r>
              <a:rPr lang="en-US" sz="1500" dirty="0">
                <a:solidFill>
                  <a:srgbClr val="BAC2DE"/>
                </a:solidFill>
                <a:latin typeface="Calibri"/>
              </a:rPr>
              <a:t>Partial — true for personal assistant domain. Not the design for enterprise app backends.</a:t>
            </a:r>
            <a:endParaRPr sz="1500" dirty="0">
              <a:solidFill>
                <a:srgbClr val="BAC2D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83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595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CDD6F4"/>
                </a:solidFill>
                <a:latin typeface="Calibri"/>
              </a:rPr>
              <a:t>Trend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7</a:t>
            </a:r>
            <a:r>
              <a:rPr sz="24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Agentic Operating Layers</a:t>
            </a:r>
            <a:endParaRPr sz="2400" b="1" dirty="0">
              <a:solidFill>
                <a:srgbClr val="CDD6F4"/>
              </a:solidFill>
              <a:latin typeface="Calibri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46717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50807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 dirty="0">
                <a:solidFill>
                  <a:srgbClr val="89B4FA"/>
                </a:solidFill>
                <a:latin typeface="Calibri"/>
              </a:rPr>
              <a:t>THE TREND</a:t>
            </a:r>
            <a:r>
              <a:rPr sz="1400" b="1" dirty="0">
                <a:solidFill>
                  <a:srgbClr val="89B4FA"/>
                </a:solidFill>
                <a:latin typeface="Calibri"/>
              </a:rPr>
              <a:t>: 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The agent sits at an intelligence layer between the application UI and system resources. It is not part of the UI, and not a system tool — it is the middleware that turns user intent into system action.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294598"/>
            <a:ext cx="621792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1" dirty="0">
                <a:solidFill>
                  <a:schemeClr val="bg1"/>
                </a:solidFill>
                <a:latin typeface="Calibri"/>
              </a:rPr>
              <a:t>No client above touches the system layer below directly. The Gateway mediates all of it</a:t>
            </a:r>
            <a:endParaRPr sz="1300" b="1" i="1" dirty="0">
              <a:solidFill>
                <a:schemeClr val="bg1"/>
              </a:solidFill>
              <a:latin typeface="Calibri"/>
            </a:endParaRPr>
          </a:p>
          <a:p>
            <a:endParaRPr lang="en-US" sz="1000" b="1" dirty="0">
              <a:solidFill>
                <a:srgbClr val="89B4FA"/>
              </a:solidFill>
              <a:latin typeface="Calibri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Calibri"/>
              </a:rPr>
              <a:t>Multi-agent routing as layered specialization:</a:t>
            </a:r>
          </a:p>
          <a:p>
            <a:r>
              <a:rPr lang="en-US" sz="1000" b="0" dirty="0">
                <a:solidFill>
                  <a:srgbClr val="BAC2DE"/>
                </a:solidFill>
                <a:latin typeface="Calibri"/>
              </a:rPr>
              <a:t>The routing system allows multiple agents to occupy the intelligence layer simultaneously — coding, personal communications, research. Each has its own tools, sandbox policies, and model configuration. The layer is composable, not monolithic.</a:t>
            </a:r>
          </a:p>
          <a:p>
            <a:endParaRPr lang="en-US" sz="1000" b="0" dirty="0">
              <a:solidFill>
                <a:srgbClr val="BAC2DE"/>
              </a:solidFill>
              <a:latin typeface="Calibri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Calibri"/>
              </a:rPr>
              <a:t>Protocol versioning and backward compatibility:</a:t>
            </a:r>
          </a:p>
          <a:p>
            <a:r>
              <a:rPr lang="en-US" sz="1000" b="0" dirty="0">
                <a:solidFill>
                  <a:srgbClr val="BAC2DE"/>
                </a:solidFill>
                <a:latin typeface="Calibri"/>
              </a:rPr>
              <a:t>The Gateway protocol (</a:t>
            </a:r>
            <a:r>
              <a:rPr lang="en-US" sz="1000" b="0" dirty="0" err="1">
                <a:solidFill>
                  <a:srgbClr val="BAC2DE"/>
                </a:solidFill>
                <a:latin typeface="Calibri"/>
              </a:rPr>
              <a:t>src</a:t>
            </a:r>
            <a:r>
              <a:rPr lang="en-US" sz="1000" b="0" dirty="0">
                <a:solidFill>
                  <a:srgbClr val="BAC2DE"/>
                </a:solidFill>
                <a:latin typeface="Calibri"/>
              </a:rPr>
              <a:t>/gateway/protocol/) is versioned with additive-first changes; incompatible changes require explicit versioning. This is the discipline of a stable operating layer — you do not break clients when the layer evolves.</a:t>
            </a:r>
          </a:p>
          <a:p>
            <a:endParaRPr lang="en-US" sz="1000" b="0" dirty="0">
              <a:solidFill>
                <a:srgbClr val="BAC2DE"/>
              </a:solidFill>
              <a:latin typeface="Calibri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Calibri"/>
              </a:rPr>
              <a:t>This is </a:t>
            </a:r>
            <a:r>
              <a:rPr lang="en-US" sz="1200" b="1" dirty="0" err="1">
                <a:solidFill>
                  <a:schemeClr val="bg1"/>
                </a:solidFill>
                <a:latin typeface="Calibri"/>
              </a:rPr>
              <a:t>OpenClaw's</a:t>
            </a:r>
            <a:r>
              <a:rPr lang="en-US" sz="1200" b="1" dirty="0">
                <a:solidFill>
                  <a:schemeClr val="bg1"/>
                </a:solidFill>
                <a:latin typeface="Calibri"/>
              </a:rPr>
              <a:t> architectural identity.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2803" y="925746"/>
            <a:ext cx="5029200" cy="4637656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4243" y="971466"/>
            <a:ext cx="3243196" cy="44935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UI / Interface Layer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├── Messaging (WhatsApp, Telegram,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│            Slack, Discord, ...)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├── Companion apps (macOS, iOS,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│                  Android nodes)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├── IDEs (via ACP bridge)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└── Any </a:t>
            </a:r>
            <a:r>
              <a:rPr lang="en-US" sz="1100" dirty="0" err="1">
                <a:solidFill>
                  <a:srgbClr val="89B4FA"/>
                </a:solidFill>
                <a:latin typeface="Courier New"/>
              </a:rPr>
              <a:t>OpenAI</a:t>
            </a:r>
            <a:r>
              <a:rPr lang="en-US" sz="1100" dirty="0">
                <a:solidFill>
                  <a:srgbClr val="89B4FA"/>
                </a:solidFill>
                <a:latin typeface="Courier New"/>
              </a:rPr>
              <a:t>-compatible client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      ↕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┌─────────────────────────────────┐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│  GATEWAY: Agentic Op. Layer     │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│                                 │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│  Session </a:t>
            </a:r>
            <a:r>
              <a:rPr lang="en-US" sz="1100" dirty="0" err="1">
                <a:solidFill>
                  <a:srgbClr val="89B4FA"/>
                </a:solidFill>
                <a:latin typeface="Courier New"/>
              </a:rPr>
              <a:t>mgmt</a:t>
            </a:r>
            <a:r>
              <a:rPr lang="en-US" sz="1100" dirty="0">
                <a:solidFill>
                  <a:srgbClr val="89B4FA"/>
                </a:solidFill>
                <a:latin typeface="Courier New"/>
              </a:rPr>
              <a:t> + routing         │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│  Model inference (50+ providers)│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│  Tool execution + policy        │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│  Context </a:t>
            </a:r>
            <a:r>
              <a:rPr lang="en-US" sz="1100" dirty="0" err="1">
                <a:solidFill>
                  <a:srgbClr val="89B4FA"/>
                </a:solidFill>
                <a:latin typeface="Courier New"/>
              </a:rPr>
              <a:t>mgmt</a:t>
            </a:r>
            <a:r>
              <a:rPr lang="en-US" sz="1100" dirty="0">
                <a:solidFill>
                  <a:srgbClr val="89B4FA"/>
                </a:solidFill>
                <a:latin typeface="Courier New"/>
              </a:rPr>
              <a:t> + compaction      │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│  Memory + skills injection      │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│  Sub-agent orchestration        │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│  Auth + security + sandboxing   │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└─────────────────────────────────┘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      ↕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System Resources / External World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├── AI providers (Anthropic, ...)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├── System tools (bash, fs, ...)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├── Channel APIs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├── Device nodes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└── External services / MCP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D2D92-3CF3-4B14-B1B5-6EB8057F660D}"/>
              </a:ext>
            </a:extLst>
          </p:cNvPr>
          <p:cNvSpPr txBox="1"/>
          <p:nvPr/>
        </p:nvSpPr>
        <p:spPr>
          <a:xfrm>
            <a:off x="365760" y="1066112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HOW IT ADDRESSES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9782D-ED0F-42B4-830F-A09AC50D0437}"/>
              </a:ext>
            </a:extLst>
          </p:cNvPr>
          <p:cNvSpPr txBox="1"/>
          <p:nvPr/>
        </p:nvSpPr>
        <p:spPr>
          <a:xfrm>
            <a:off x="365760" y="3776714"/>
            <a:ext cx="6217920" cy="234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CDD6F4"/>
                </a:solidFill>
                <a:latin typeface="Calibri"/>
              </a:rPr>
              <a:t>Personal-Scope Operating Layer</a:t>
            </a:r>
          </a:p>
          <a:p>
            <a:pPr>
              <a:spcBef>
                <a:spcPts val="10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The operating layer metaphor breaks down at the edges of personal scope: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The Gateway is an operating layer for one user's world. It does not manage security isolation between multiple users calling the same layer.</a:t>
            </a:r>
          </a:p>
          <a:p>
            <a:pPr>
              <a:spcBef>
                <a:spcPts val="10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No per-user process isolation: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All tool execution happens in the same process context. There is no per-user tool scope, no per-user process isolation, no per-user sandbox boundaries when multiple users share one Gateway.</a:t>
            </a:r>
          </a:p>
          <a:p>
            <a:pPr>
              <a:spcBef>
                <a:spcPts val="10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Enterprise operating layers require multi-user isolation: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Enterprise operating layers need to serve many users simultaneously with strict isolation.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architecture would require one Gateway instance per user for that model — losing the 'shared layer' benefit.</a:t>
            </a:r>
          </a:p>
          <a:p>
            <a:pPr>
              <a:spcBef>
                <a:spcPts val="1000"/>
              </a:spcBef>
            </a:pPr>
            <a:r>
              <a:rPr lang="en-US" sz="1000" b="1" dirty="0">
                <a:solidFill>
                  <a:srgbClr val="CDD6F4"/>
                </a:solidFill>
                <a:latin typeface="Calibri"/>
              </a:rPr>
              <a:t>The architecture IS the trend's exact match — within its scope: 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This is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strongest structural alignment. The limitation is scope, not architecture. It is an operating layer for one user with deep integration, not a shared operating layer for many.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DBE77-5CDC-4775-B7AC-D871B9C88D5A}"/>
              </a:ext>
            </a:extLst>
          </p:cNvPr>
          <p:cNvSpPr txBox="1"/>
          <p:nvPr/>
        </p:nvSpPr>
        <p:spPr>
          <a:xfrm>
            <a:off x="365759" y="3592735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WHERE IT IS LIMITED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08213-472B-4793-91B8-EF0E96919724}"/>
              </a:ext>
            </a:extLst>
          </p:cNvPr>
          <p:cNvSpPr/>
          <p:nvPr/>
        </p:nvSpPr>
        <p:spPr>
          <a:xfrm>
            <a:off x="-1" y="6443424"/>
            <a:ext cx="12188825" cy="418012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2A2B7-974A-4253-9557-12C5467DBE62}"/>
              </a:ext>
            </a:extLst>
          </p:cNvPr>
          <p:cNvSpPr txBox="1"/>
          <p:nvPr/>
        </p:nvSpPr>
        <p:spPr>
          <a:xfrm>
            <a:off x="182879" y="6489144"/>
            <a:ext cx="118626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89B4FA"/>
                </a:solidFill>
                <a:latin typeface="Calibri"/>
              </a:rPr>
              <a:t>Verdict: </a:t>
            </a:r>
            <a:r>
              <a:rPr lang="en-US" sz="1500" dirty="0">
                <a:solidFill>
                  <a:srgbClr val="BAC2DE"/>
                </a:solidFill>
                <a:latin typeface="Calibri"/>
              </a:rPr>
              <a:t>Strong — exact architectural match. Limitation is single-user scope, not structural.</a:t>
            </a:r>
            <a:endParaRPr sz="1500" dirty="0">
              <a:solidFill>
                <a:srgbClr val="BAC2D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0098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595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CDD6F4"/>
                </a:solidFill>
                <a:latin typeface="Calibri"/>
              </a:rPr>
              <a:t>Trend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8</a:t>
            </a:r>
            <a:r>
              <a:rPr sz="2400" b="1" dirty="0">
                <a:solidFill>
                  <a:srgbClr val="CDD6F4"/>
                </a:solidFill>
                <a:latin typeface="Calibri"/>
              </a:rPr>
              <a:t>: </a:t>
            </a:r>
            <a:r>
              <a:rPr lang="en-US" sz="2400" b="1" dirty="0">
                <a:solidFill>
                  <a:srgbClr val="CDD6F4"/>
                </a:solidFill>
                <a:latin typeface="Calibri"/>
              </a:rPr>
              <a:t>Autonomous Verticalization</a:t>
            </a:r>
            <a:endParaRPr sz="2400" b="1" dirty="0">
              <a:solidFill>
                <a:srgbClr val="CDD6F4"/>
              </a:solidFill>
              <a:latin typeface="Calibri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46717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50807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 dirty="0">
                <a:solidFill>
                  <a:srgbClr val="89B4FA"/>
                </a:solidFill>
                <a:latin typeface="Calibri"/>
              </a:rPr>
              <a:t>THE TREND</a:t>
            </a:r>
            <a:r>
              <a:rPr sz="1400" b="1" dirty="0">
                <a:solidFill>
                  <a:srgbClr val="89B4FA"/>
                </a:solidFill>
                <a:latin typeface="Calibri"/>
              </a:rPr>
              <a:t>: </a:t>
            </a:r>
            <a:r>
              <a:rPr lang="en-US" sz="1400" dirty="0">
                <a:solidFill>
                  <a:srgbClr val="BAC2DE"/>
                </a:solidFill>
                <a:latin typeface="Calibri"/>
              </a:rPr>
              <a:t>One architecture. An entire vertical. Replicate the pattern to any domain with zero architectural changes. The same system that handles travel handles healthcare handles finance.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294598"/>
            <a:ext cx="6217920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alibri"/>
              </a:rPr>
              <a:t>The architecture is genuinely generic:</a:t>
            </a:r>
          </a:p>
          <a:p>
            <a:pPr>
              <a:spcBef>
                <a:spcPts val="4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The Gateway core handles sessions, routing, tool execution, context management, provider failover, and streaming. None of this is domain-specific. What messages mean and what tools do is entirely defined by skills (above) and plugins (below).</a:t>
            </a:r>
          </a:p>
          <a:p>
            <a:pPr>
              <a:spcBef>
                <a:spcPts val="8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Plugin-based vertical specialization:</a:t>
            </a:r>
          </a:p>
          <a:p>
            <a:pPr>
              <a:spcBef>
                <a:spcPts val="4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Adding a new vertical means writing a plugin (domain-specific channel or capability) and a set of skills (domain reasoning). The architectural skeleton — Gateway, agent loop, tool policy, session management, memory, failover — is reused unchanged.</a:t>
            </a:r>
          </a:p>
          <a:p>
            <a:pPr>
              <a:spcBef>
                <a:spcPts val="800"/>
              </a:spcBef>
            </a:pPr>
            <a:r>
              <a:rPr lang="en-US" sz="1200" b="1" dirty="0">
                <a:solidFill>
                  <a:schemeClr val="bg1"/>
                </a:solidFill>
                <a:latin typeface="Calibri"/>
              </a:rPr>
              <a:t>Any channel is a vertical entry point:</a:t>
            </a:r>
          </a:p>
          <a:p>
            <a:pPr>
              <a:spcBef>
                <a:spcPts val="400"/>
              </a:spcBef>
            </a:pPr>
            <a:r>
              <a:rPr lang="en-US" sz="1000" dirty="0">
                <a:solidFill>
                  <a:srgbClr val="BAC2DE"/>
                </a:solidFill>
                <a:latin typeface="Calibri"/>
              </a:rPr>
              <a:t>A healthcare vertical could run on WhatsApp (patient messaging) and internal Slack (staff) simultaneously, with different agents, tool policies, and skills — all from one Gateway.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2803" y="925746"/>
            <a:ext cx="5029200" cy="4637656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4243" y="971466"/>
            <a:ext cx="2988319" cy="4662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# Multi-agent routing example: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# One Gateway, multiple verticals</a:t>
            </a:r>
          </a:p>
          <a:p>
            <a:endParaRPr lang="en-US" sz="1100" dirty="0">
              <a:solidFill>
                <a:srgbClr val="89B4FA"/>
              </a:solidFill>
              <a:latin typeface="Courier New"/>
            </a:endParaRP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agents: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coding: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model: claude-sonnet-4-6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tools: [bash, filesystem,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        browser]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skills: [code-review,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         git-workflow]</a:t>
            </a:r>
          </a:p>
          <a:p>
            <a:endParaRPr lang="en-US" sz="1100" dirty="0">
              <a:solidFill>
                <a:srgbClr val="89B4FA"/>
              </a:solidFill>
              <a:latin typeface="Courier New"/>
            </a:endParaRP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research: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model: gemini-2.5-pro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tools: [browser, memory]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skills: [lit-review]</a:t>
            </a:r>
          </a:p>
          <a:p>
            <a:endParaRPr lang="en-US" sz="1100" dirty="0">
              <a:solidFill>
                <a:srgbClr val="89B4FA"/>
              </a:solidFill>
              <a:latin typeface="Courier New"/>
            </a:endParaRP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personal: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model: claude-opus-4-6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tools: [memory, calendar]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skills: [personal-assistant]</a:t>
            </a:r>
          </a:p>
          <a:p>
            <a:endParaRPr lang="en-US" sz="1100" dirty="0">
              <a:solidFill>
                <a:srgbClr val="89B4FA"/>
              </a:solidFill>
              <a:latin typeface="Courier New"/>
            </a:endParaRP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routing: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- channel: telegram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peer: work-group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-&gt; agent: coding</a:t>
            </a: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- channel: </a:t>
            </a:r>
            <a:r>
              <a:rPr lang="en-US" sz="1100" dirty="0" err="1">
                <a:solidFill>
                  <a:srgbClr val="89B4FA"/>
                </a:solidFill>
                <a:latin typeface="Courier New"/>
              </a:rPr>
              <a:t>whatsapp</a:t>
            </a:r>
            <a:endParaRPr lang="en-US" sz="1100" dirty="0">
              <a:solidFill>
                <a:srgbClr val="89B4FA"/>
              </a:solidFill>
              <a:latin typeface="Courier New"/>
            </a:endParaRPr>
          </a:p>
          <a:p>
            <a:r>
              <a:rPr lang="en-US" sz="1100" dirty="0">
                <a:solidFill>
                  <a:srgbClr val="89B4FA"/>
                </a:solidFill>
                <a:latin typeface="Courier New"/>
              </a:rPr>
              <a:t>    -&gt; agent: personal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D2D92-3CF3-4B14-B1B5-6EB8057F660D}"/>
              </a:ext>
            </a:extLst>
          </p:cNvPr>
          <p:cNvSpPr txBox="1"/>
          <p:nvPr/>
        </p:nvSpPr>
        <p:spPr>
          <a:xfrm>
            <a:off x="365760" y="1066112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HOW IT ADDRESSES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9782D-ED0F-42B4-830F-A09AC50D0437}"/>
              </a:ext>
            </a:extLst>
          </p:cNvPr>
          <p:cNvSpPr txBox="1"/>
          <p:nvPr/>
        </p:nvSpPr>
        <p:spPr>
          <a:xfrm>
            <a:off x="365759" y="3652965"/>
            <a:ext cx="6481927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alibri"/>
              </a:rPr>
              <a:t>Zero Architectural Changes — But Non-Zero Configuration Work</a:t>
            </a:r>
          </a:p>
          <a:p>
            <a:pPr>
              <a:spcBef>
                <a:spcPts val="1000"/>
              </a:spcBef>
            </a:pPr>
            <a:r>
              <a:rPr lang="en-US" sz="1050" b="1" dirty="0">
                <a:solidFill>
                  <a:srgbClr val="CDD6F4"/>
                </a:solidFill>
                <a:latin typeface="Calibri"/>
              </a:rPr>
              <a:t>'Zero architectural changes' overstates it. Adding a new vertical requires: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- Writing or installing plugins for domain-specific channels/tools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- Configuring agents (model selection, tool policy, sandbox mode)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- Creating skills (domain knowledge in Markdown)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- Setting up memory categories and routing rules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These are configuration and development tasks, not architectural changes. But they are not zero work.</a:t>
            </a:r>
          </a:p>
          <a:p>
            <a:pPr>
              <a:spcBef>
                <a:spcPts val="1000"/>
              </a:spcBef>
            </a:pPr>
            <a:r>
              <a:rPr lang="en-US" sz="1050" b="1" dirty="0">
                <a:solidFill>
                  <a:srgbClr val="CDD6F4"/>
                </a:solidFill>
                <a:latin typeface="Calibri"/>
              </a:rPr>
              <a:t>A more accurate statement: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Zero architectural changes, but non-zero configuration and plugin development.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The architecture is an enabler of fast verticalization, not a push-button solution.</a:t>
            </a:r>
          </a:p>
          <a:p>
            <a:pPr>
              <a:spcBef>
                <a:spcPts val="1000"/>
              </a:spcBef>
            </a:pPr>
            <a:r>
              <a:rPr lang="en-US" sz="1050" b="1" dirty="0">
                <a:solidFill>
                  <a:srgbClr val="CDD6F4"/>
                </a:solidFill>
                <a:latin typeface="Calibri"/>
              </a:rPr>
              <a:t>The deeper limitation — enterprise verticalization: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</a:t>
            </a:r>
            <a:r>
              <a:rPr lang="en-US" sz="1000" dirty="0" err="1">
                <a:solidFill>
                  <a:srgbClr val="BAC2DE"/>
                </a:solidFill>
                <a:latin typeface="Calibri"/>
              </a:rPr>
              <a:t>OpenClaw's</a:t>
            </a:r>
            <a:r>
              <a:rPr lang="en-US" sz="1000" dirty="0">
                <a:solidFill>
                  <a:srgbClr val="BAC2DE"/>
                </a:solidFill>
                <a:latin typeface="Calibri"/>
              </a:rPr>
              <a:t> verticalization model is oriented toward personal-assistant verticals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(one user, many channels, many domains).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True enterprise verticalization — deploying the same pattern as an AI product</a:t>
            </a:r>
          </a:p>
          <a:p>
            <a:r>
              <a:rPr lang="en-US" sz="1000" dirty="0">
                <a:solidFill>
                  <a:srgbClr val="BAC2DE"/>
                </a:solidFill>
                <a:latin typeface="Calibri"/>
              </a:rPr>
              <a:t>    serving many users in one domain — runs into the single-operator constraint again.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DBE77-5CDC-4775-B7AC-D871B9C88D5A}"/>
              </a:ext>
            </a:extLst>
          </p:cNvPr>
          <p:cNvSpPr txBox="1"/>
          <p:nvPr/>
        </p:nvSpPr>
        <p:spPr>
          <a:xfrm>
            <a:off x="365759" y="3468986"/>
            <a:ext cx="1806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89B4FA"/>
                </a:solidFill>
                <a:latin typeface="Calibri"/>
              </a:rPr>
              <a:t>WHERE IT IS LIMITED</a:t>
            </a:r>
            <a:endParaRPr sz="1400" dirty="0">
              <a:solidFill>
                <a:srgbClr val="BAC2DE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08213-472B-4793-91B8-EF0E96919724}"/>
              </a:ext>
            </a:extLst>
          </p:cNvPr>
          <p:cNvSpPr/>
          <p:nvPr/>
        </p:nvSpPr>
        <p:spPr>
          <a:xfrm>
            <a:off x="-1" y="6443424"/>
            <a:ext cx="12188825" cy="418012"/>
          </a:xfrm>
          <a:prstGeom prst="rect">
            <a:avLst/>
          </a:prstGeom>
          <a:solidFill>
            <a:srgbClr val="28283D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92A2B7-974A-4253-9557-12C5467DBE62}"/>
              </a:ext>
            </a:extLst>
          </p:cNvPr>
          <p:cNvSpPr txBox="1"/>
          <p:nvPr/>
        </p:nvSpPr>
        <p:spPr>
          <a:xfrm>
            <a:off x="182879" y="6489144"/>
            <a:ext cx="118626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89B4FA"/>
                </a:solidFill>
                <a:latin typeface="Calibri"/>
              </a:rPr>
              <a:t>Verdict: </a:t>
            </a:r>
            <a:r>
              <a:rPr lang="en-US" sz="1500" dirty="0">
                <a:solidFill>
                  <a:srgbClr val="BAC2DE"/>
                </a:solidFill>
                <a:latin typeface="Calibri"/>
              </a:rPr>
              <a:t>Partial — zero architectural changes, but non-zero configuration work. Enterprise scope hits single-operator wall.</a:t>
            </a:r>
            <a:endParaRPr sz="1500" dirty="0">
              <a:solidFill>
                <a:srgbClr val="BAC2D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3377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Overall Positioning: 8 Trends × Coverage × Limiting Factor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9B4FA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8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9B4FA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>
                    <a:solidFill>
                      <a:srgbClr val="18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9B4FA"/>
                          </a:solidFill>
                          <a:latin typeface="Calibri"/>
                        </a:rPr>
                        <a:t>Limiting Factor</a:t>
                      </a:r>
                    </a:p>
                  </a:txBody>
                  <a:tcPr>
                    <a:solidFill>
                      <a:srgbClr val="18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Harnessing Agents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E3A1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Single-operator only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Agent Substrate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E3A1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No multi-tenant isolation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Self-Refining Systems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8BA8"/>
                          </a:solidFill>
                          <a:latin typeface="Calibri"/>
                        </a:rPr>
                        <a:t>Weak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Data adapts, behavior/skills do not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Ambient Agents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E3A1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Voice/browser ambient is strong; depth varies by platform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Executable Intelligence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9E2A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API layer: yes; channel delivery: no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Business-Native Agents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9E2A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True for personal scope, not enterprise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Agentic Operating Layers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6E3A1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Exact architectural match; single-user scope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Autonomous Verticalization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9E2A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AC2DE"/>
                          </a:solidFill>
                          <a:latin typeface="Calibri"/>
                        </a:rPr>
                        <a:t>Zero arch changes, non-zero config work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The Pattern in the Gaps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DD6F4"/>
                </a:solidFill>
                <a:latin typeface="Calibri"/>
              </a:rPr>
              <a:t>The four partial/weak ratings share a common root: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BAC2DE"/>
                </a:solidFill>
                <a:latin typeface="Calibri"/>
              </a:rPr>
              <a:t>OpenClaw optimizes for one user with deep integration, not for many users with broad reach. Every trend it addresses strongly is a single-user, ambient, deeply-integrated story. Every trend it addresses partially is a multi-user, enterprise, or behavioral-evolution 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37560"/>
            <a:ext cx="11274552" cy="1005840"/>
          </a:xfrm>
          <a:prstGeom prst="rect">
            <a:avLst/>
          </a:prstGeom>
          <a:solidFill>
            <a:srgbClr val="181828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9B4FA"/>
                </a:solidFill>
                <a:latin typeface="Calibri"/>
              </a:rPr>
              <a:t>Common Root: </a:t>
            </a:r>
            <a:r>
              <a:rPr sz="1600">
                <a:solidFill>
                  <a:srgbClr val="BAC2DE"/>
                </a:solidFill>
                <a:latin typeface="Calibri"/>
              </a:rPr>
              <a:t>This is a coherent design choice, not an accidental gap. Strong trends: single-user, ambient, deeply-integrated. Partial trends: multi-user, enterprise, or behavioral-evolution.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480560"/>
            <a:ext cx="10360152" cy="1371600"/>
          </a:xfrm>
          <a:prstGeom prst="rect">
            <a:avLst/>
          </a:prstGeom>
          <a:solidFill>
            <a:srgbClr val="28283D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4526280"/>
            <a:ext cx="9875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9B4FA"/>
                </a:solidFill>
                <a:latin typeface="Calibri"/>
              </a:rPr>
              <a:t>VISION.md: </a:t>
            </a:r>
            <a:r>
              <a:rPr sz="1600" i="1">
                <a:solidFill>
                  <a:srgbClr val="CDD6F4"/>
                </a:solidFill>
                <a:latin typeface="Calibri"/>
              </a:rPr>
              <a:t>"OpenClaw is the AI that actually does things. It runs on your devices, in your channels, with your rules."</a:t>
            </a:r>
          </a:p>
          <a:p>
            <a:pPr>
              <a:spcBef>
                <a:spcPts val="400"/>
              </a:spcBef>
            </a:pPr>
            <a:r>
              <a:rPr sz="1400" i="1">
                <a:solidFill>
                  <a:srgbClr val="BAC2DE"/>
                </a:solidFill>
                <a:latin typeface="Calibri"/>
              </a:rPr>
              <a:t>The emphasis on "your" is the design constraint that produces every partial rating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6E3A1"/>
                </a:solidFill>
                <a:latin typeface="Calibri"/>
              </a:rPr>
              <a:t>Strong: Single-user | Ambient | Deep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989320"/>
            <a:ext cx="5760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9E2AF"/>
                </a:solidFill>
                <a:latin typeface="Calibri"/>
              </a:rPr>
              <a:t>Partial: Multi-user | Enterprise | Behavioral evolution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DD6F4"/>
                </a:solidFill>
                <a:latin typeface="Calibri"/>
              </a:rPr>
              <a:t>What Would Close the Gaps — 6 Specific Changes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9B4FA"/>
                          </a:solidFill>
                          <a:latin typeface="Calibri"/>
                        </a:rPr>
                        <a:t>Gap Area</a:t>
                      </a:r>
                    </a:p>
                  </a:txBody>
                  <a:tcPr>
                    <a:solidFill>
                      <a:srgbClr val="18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9B4FA"/>
                          </a:solidFill>
                          <a:latin typeface="Calibri"/>
                        </a:rPr>
                        <a:t>Specific Change</a:t>
                      </a:r>
                    </a:p>
                  </a:txBody>
                  <a:tcPr>
                    <a:solidFill>
                      <a:srgbClr val="18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38BA8"/>
                          </a:solidFill>
                          <a:latin typeface="Calibri"/>
                        </a:rPr>
                        <a:t>Self-Refining Systems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BAC2DE"/>
                          </a:solidFill>
                          <a:latin typeface="Calibri"/>
                        </a:rPr>
                        <a:t>Hook at agent_end that classifies run quality + feeds into skill mutation pipeline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38BA8"/>
                          </a:solidFill>
                          <a:latin typeface="Calibri"/>
                        </a:rPr>
                        <a:t>Self-Refining Systems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BAC2DE"/>
                          </a:solidFill>
                          <a:latin typeface="Calibri"/>
                        </a:rPr>
                        <a:t>Automated skill versioning: agent proposes skill edit → human approves → deployed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9E2AF"/>
                          </a:solidFill>
                          <a:latin typeface="Calibri"/>
                        </a:rPr>
                        <a:t>Executable Intelligence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BAC2DE"/>
                          </a:solidFill>
                          <a:latin typeface="Calibri"/>
                        </a:rPr>
                        <a:t>response_format JSON schema enforcement on channel-facing responses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9E2AF"/>
                          </a:solidFill>
                          <a:latin typeface="Calibri"/>
                        </a:rPr>
                        <a:t>Executable Intelligence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BAC2DE"/>
                          </a:solidFill>
                          <a:latin typeface="Calibri"/>
                        </a:rPr>
                        <a:t>Structured 'action packet' reply mode (JSON alongside natural language)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9E2AF"/>
                          </a:solidFill>
                          <a:latin typeface="Calibri"/>
                        </a:rPr>
                        <a:t>Business-Native Agents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BAC2DE"/>
                          </a:solidFill>
                          <a:latin typeface="Calibri"/>
                        </a:rPr>
                        <a:t>Per-user scope model on OpenAI HTTP API (narrow x-openclaw-scopes header)</a:t>
                      </a:r>
                    </a:p>
                  </a:txBody>
                  <a:tcPr>
                    <a:solidFill>
                      <a:srgbClr val="28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9E2AF"/>
                          </a:solidFill>
                          <a:latin typeface="Calibri"/>
                        </a:rPr>
                        <a:t>Autonomous Verticalization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BAC2DE"/>
                          </a:solidFill>
                          <a:latin typeface="Calibri"/>
                        </a:rPr>
                        <a:t>Vertical templates: pre-packaged agent+plugin+skill bundles per domain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4016</Words>
  <Application>Microsoft Office PowerPoint</Application>
  <PresentationFormat>Custom</PresentationFormat>
  <Paragraphs>321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Michael Atamuk (A)</cp:lastModifiedBy>
  <cp:revision>72</cp:revision>
  <dcterms:created xsi:type="dcterms:W3CDTF">2013-01-27T09:14:16Z</dcterms:created>
  <dcterms:modified xsi:type="dcterms:W3CDTF">2026-04-24T08:47:22Z</dcterms:modified>
  <cp:category/>
</cp:coreProperties>
</file>